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Δ% vs B0</c:v>
                </c:pt>
              </c:strCache>
            </c:strRef>
          </c:tx>
          <c:dPt>
            <c:idx val="0"/>
            <c:spPr>
              <a:solidFill>
                <a:srgbClr val="C4463D"/>
              </a:solidFill>
            </c:spPr>
          </c:dPt>
          <c:dPt>
            <c:idx val="1"/>
            <c:spPr>
              <a:solidFill>
                <a:srgbClr val="2E8B57"/>
              </a:solidFill>
            </c:spPr>
          </c:dPt>
          <c:dPt>
            <c:idx val="2"/>
            <c:spPr>
              <a:solidFill>
                <a:srgbClr val="2E8B57"/>
              </a:solidFill>
            </c:spPr>
          </c:dPt>
          <c:dPt>
            <c:idx val="3"/>
            <c:spPr>
              <a:solidFill>
                <a:srgbClr val="2E8B57"/>
              </a:solidFill>
            </c:spPr>
          </c:dPt>
          <c:cat>
            <c:strRef>
              <c:f>Sheet1!$A$2:$A$5</c:f>
              <c:strCache>
                <c:ptCount val="4"/>
                <c:pt idx="0">
                  <c:v>LunarLander</c:v>
                </c:pt>
                <c:pt idx="1">
                  <c:v>CartPole</c:v>
                </c:pt>
                <c:pt idx="2">
                  <c:v>MountainCar</c:v>
                </c:pt>
                <c:pt idx="3">
                  <c:v>Acrobot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-11.4</c:v>
                </c:pt>
                <c:pt idx="1">
                  <c:v>116.1</c:v>
                </c:pt>
                <c:pt idx="2">
                  <c:v>31.5</c:v>
                </c:pt>
                <c:pt idx="3">
                  <c:v>57.5</c:v>
                </c:pt>
              </c:numCache>
            </c:numRef>
          </c:val>
        </c:ser>
        <c:dLbls>
          <c:numFmt formatCode="+0.0&quot;%&quot;;-0.0&quot;%&quot;" sourceLinked="0"/>
          <c:txPr>
            <a:bodyPr/>
            <a:lstStyle/>
            <a:p>
              <a:pPr>
                <a:defRPr sz="1200" b="1">
                  <a:solidFill>
                    <a:srgbClr val="23272B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DE1E5"/>
            </a:solidFill>
          </a:ln>
        </c:spPr>
        <c:txPr>
          <a:bodyPr/>
          <a:lstStyle/>
          <a:p>
            <a:pPr>
              <a:defRPr sz="1200">
                <a:solidFill>
                  <a:srgbClr val="23272B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per-seed std</c:v>
                </c:pt>
              </c:strCache>
            </c:strRef>
          </c:tx>
          <c:dPt>
            <c:idx val="0"/>
            <c:spPr>
              <a:solidFill>
                <a:srgbClr val="2E8B57"/>
              </a:solidFill>
            </c:spPr>
          </c:dPt>
          <c:dPt>
            <c:idx val="1"/>
            <c:spPr>
              <a:solidFill>
                <a:srgbClr val="2E8B57"/>
              </a:solidFill>
            </c:spPr>
          </c:dPt>
          <c:dPt>
            <c:idx val="2"/>
            <c:spPr>
              <a:solidFill>
                <a:srgbClr val="C4463D"/>
              </a:solidFill>
            </c:spPr>
          </c:dPt>
          <c:dPt>
            <c:idx val="3"/>
            <c:spPr>
              <a:solidFill>
                <a:srgbClr val="D99A2B"/>
              </a:solidFill>
            </c:spPr>
          </c:dPt>
          <c:cat>
            <c:strRef>
              <c:f>Sheet1!$A$2:$A$5</c:f>
              <c:strCache>
                <c:ptCount val="4"/>
                <c:pt idx="0">
                  <c:v>MountainCar</c:v>
                </c:pt>
                <c:pt idx="1">
                  <c:v>Acrobot</c:v>
                </c:pt>
                <c:pt idx="2">
                  <c:v>LunarLander</c:v>
                </c:pt>
                <c:pt idx="3">
                  <c:v>CartPole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3.08</c:v>
                </c:pt>
                <c:pt idx="1">
                  <c:v>4.39</c:v>
                </c:pt>
                <c:pt idx="2">
                  <c:v>91.4</c:v>
                </c:pt>
                <c:pt idx="3">
                  <c:v>113.18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200" b="1">
                  <a:solidFill>
                    <a:srgbClr val="23272B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DE1E5"/>
            </a:solidFill>
          </a:ln>
        </c:spPr>
        <c:txPr>
          <a:bodyPr/>
          <a:lstStyle/>
          <a:p>
            <a:pPr>
              <a:defRPr sz="1200">
                <a:solidFill>
                  <a:srgbClr val="23272B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spPr>
          <a:ln>
            <a:solidFill>
              <a:srgbClr val="DDE1E5"/>
            </a:solidFill>
          </a:ln>
        </c:spPr>
        <c:txPr>
          <a:bodyPr/>
          <a:lstStyle/>
          <a:p>
            <a:pPr>
              <a:defRPr sz="900">
                <a:solidFill>
                  <a:srgbClr val="8C9298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vanilla</c:v>
                </c:pt>
              </c:strCache>
            </c:strRef>
          </c:tx>
          <c:spPr>
            <a:solidFill>
              <a:srgbClr val="465059"/>
            </a:solidFill>
          </c:spPr>
          <c:cat>
            <c:strRef>
              <c:f>Sheet1!$A$2:$A$5</c:f>
              <c:strCache>
                <c:ptCount val="4"/>
                <c:pt idx="0">
                  <c:v>LunarLander</c:v>
                </c:pt>
                <c:pt idx="1">
                  <c:v>CartPole</c:v>
                </c:pt>
                <c:pt idx="2">
                  <c:v>MountainCar</c:v>
                </c:pt>
                <c:pt idx="3">
                  <c:v>Acrobot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-11.4</c:v>
                </c:pt>
                <c:pt idx="1">
                  <c:v>116.1</c:v>
                </c:pt>
                <c:pt idx="2">
                  <c:v>31.5</c:v>
                </c:pt>
                <c:pt idx="3">
                  <c:v>57.5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Double</c:v>
                </c:pt>
              </c:strCache>
            </c:strRef>
          </c:tx>
          <c:spPr>
            <a:solidFill>
              <a:srgbClr val="3F6FA8"/>
            </a:solidFill>
          </c:spPr>
          <c:cat>
            <c:strRef>
              <c:f>Sheet1!$A$2:$A$5</c:f>
              <c:strCache>
                <c:ptCount val="4"/>
                <c:pt idx="0">
                  <c:v>LunarLander</c:v>
                </c:pt>
                <c:pt idx="1">
                  <c:v>CartPole</c:v>
                </c:pt>
                <c:pt idx="2">
                  <c:v>MountainCar</c:v>
                </c:pt>
                <c:pt idx="3">
                  <c:v>Acrobot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-23.4</c:v>
                </c:pt>
                <c:pt idx="1">
                  <c:v>113.4</c:v>
                </c:pt>
                <c:pt idx="2">
                  <c:v>31.0</c:v>
                </c:pt>
                <c:pt idx="3">
                  <c:v>65.3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Dueling</c:v>
                </c:pt>
              </c:strCache>
            </c:strRef>
          </c:tx>
          <c:spPr>
            <a:solidFill>
              <a:srgbClr val="2E8B57"/>
            </a:solidFill>
          </c:spPr>
          <c:cat>
            <c:strRef>
              <c:f>Sheet1!$A$2:$A$5</c:f>
              <c:strCache>
                <c:ptCount val="4"/>
                <c:pt idx="0">
                  <c:v>LunarLander</c:v>
                </c:pt>
                <c:pt idx="1">
                  <c:v>CartPole</c:v>
                </c:pt>
                <c:pt idx="2">
                  <c:v>MountainCar</c:v>
                </c:pt>
                <c:pt idx="3">
                  <c:v>Acrobot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-17.3</c:v>
                </c:pt>
                <c:pt idx="1">
                  <c:v>39.1</c:v>
                </c:pt>
                <c:pt idx="2">
                  <c:v>26.1</c:v>
                </c:pt>
                <c:pt idx="3">
                  <c:v>22.9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750" b="0">
                  <a:solidFill>
                    <a:srgbClr val="465059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DE1E5"/>
            </a:solidFill>
          </a:ln>
        </c:spPr>
        <c:txPr>
          <a:bodyPr/>
          <a:lstStyle/>
          <a:p>
            <a:pPr>
              <a:defRPr sz="1100">
                <a:solidFill>
                  <a:srgbClr val="23272B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spPr>
          <a:ln>
            <a:solidFill>
              <a:srgbClr val="DDE1E5"/>
            </a:solidFill>
          </a:ln>
        </c:spPr>
        <c:txPr>
          <a:bodyPr/>
          <a:lstStyle/>
          <a:p>
            <a:pPr>
              <a:defRPr sz="900">
                <a:solidFill>
                  <a:srgbClr val="8C9298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100"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51560"/>
            <a:ext cx="1033272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200" b="0" i="0">
                <a:solidFill>
                  <a:srgbClr val="23272B"/>
                </a:solidFill>
                <a:latin typeface="Georgia"/>
                <a:ea typeface="Georgia"/>
                <a:cs typeface="Georgia"/>
              </a:rPr>
              <a:t>Hermes-DQN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88920" y="2395728"/>
            <a:ext cx="6583680" cy="566928"/>
          </a:xfrm>
          <a:prstGeom prst="roundRect">
            <a:avLst>
              <a:gd name="adj" fmla="val 40000"/>
            </a:avLst>
          </a:prstGeom>
          <a:solidFill>
            <a:srgbClr val="FBF1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88920" y="2377440"/>
            <a:ext cx="658368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300" b="1" i="0">
                <a:solidFill>
                  <a:srgbClr val="23272B"/>
                </a:solidFill>
                <a:latin typeface="Microsoft JhengHei"/>
                <a:ea typeface="Microsoft JhengHei"/>
                <a:cs typeface="Microsoft JhengHei"/>
              </a:rPr>
              <a:t>記憶擴增之大型語言模型獎勵設計框架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65960" y="3794760"/>
            <a:ext cx="18288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D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465059"/>
                </a:solidFill>
                <a:latin typeface="Calibri"/>
                <a:ea typeface="Microsoft JhengHei"/>
                <a:cs typeface="Calibri"/>
              </a:rPr>
              <a:t>開源 LLM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60520" y="3794760"/>
            <a:ext cx="18288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D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465059"/>
                </a:solidFill>
                <a:latin typeface="Calibri"/>
                <a:ea typeface="Microsoft JhengHei"/>
                <a:cs typeface="Calibri"/>
              </a:rPr>
              <a:t>Memory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3794760"/>
            <a:ext cx="18288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D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465059"/>
                </a:solidFill>
                <a:latin typeface="Calibri"/>
                <a:ea typeface="Microsoft JhengHei"/>
                <a:cs typeface="Calibri"/>
              </a:rPr>
              <a:t>AST Buffer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794760" y="4229100"/>
            <a:ext cx="365760" cy="0"/>
          </a:xfrm>
          <a:prstGeom prst="line">
            <a:avLst/>
          </a:prstGeom>
          <a:ln w="25400">
            <a:solidFill>
              <a:srgbClr val="8C9298"/>
            </a:solidFill>
            <a:headEnd type="none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989320" y="4229100"/>
            <a:ext cx="365760" cy="0"/>
          </a:xfrm>
          <a:prstGeom prst="line">
            <a:avLst/>
          </a:prstGeom>
          <a:ln w="25400">
            <a:solidFill>
              <a:srgbClr val="8C9298"/>
            </a:solidFill>
            <a:headEnd type="none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183879" y="4229100"/>
            <a:ext cx="365761" cy="0"/>
          </a:xfrm>
          <a:prstGeom prst="line">
            <a:avLst/>
          </a:prstGeom>
          <a:ln w="25400">
            <a:solidFill>
              <a:srgbClr val="8C9298"/>
            </a:solidFill>
            <a:headEnd type="none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549640" y="3657600"/>
            <a:ext cx="2240280" cy="1143000"/>
          </a:xfrm>
          <a:prstGeom prst="roundRect">
            <a:avLst>
              <a:gd name="adj" fmla="val 12000"/>
            </a:avLst>
          </a:prstGeom>
          <a:solidFill>
            <a:srgbClr val="232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DQN Agent</a:t>
            </a:r>
          </a:p>
        </p:txBody>
      </p:sp>
      <p:sp>
        <p:nvSpPr>
          <p:cNvPr id="12" name="Rectangle 11"/>
          <p:cNvSpPr/>
          <p:nvPr/>
        </p:nvSpPr>
        <p:spPr>
          <a:xfrm rot="21360000">
            <a:off x="9464040" y="457200"/>
            <a:ext cx="2194560" cy="914400"/>
          </a:xfrm>
          <a:prstGeom prst="rect">
            <a:avLst/>
          </a:prstGeom>
          <a:solidFill>
            <a:srgbClr val="FBF1A9"/>
          </a:solidFill>
          <a:ln w="9525">
            <a:solidFill>
              <a:srgbClr val="E7D4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01600" bIns="101600"/>
          <a:lstStyle/>
          <a:p>
            <a:pPr algn="l">
              <a:lnSpc>
                <a:spcPct val="108000"/>
              </a:lnSpc>
            </a:pPr>
            <a:r>
              <a:rPr sz="1100" b="1" i="0">
                <a:solidFill>
                  <a:srgbClr val="D99A2B"/>
                </a:solidFill>
                <a:latin typeface="Calibri"/>
                <a:ea typeface="Microsoft JhengHei"/>
                <a:cs typeface="Calibri"/>
              </a:rPr>
              <a:t>Focus</a:t>
            </a:r>
          </a:p>
          <a:p>
            <a:pPr algn="l">
              <a:lnSpc>
                <a:spcPct val="108000"/>
              </a:lnSpc>
            </a:pPr>
            <a:r>
              <a:rPr sz="1200" b="1" i="0">
                <a:solidFill>
                  <a:srgbClr val="465059"/>
                </a:solidFill>
                <a:latin typeface="Calibri"/>
                <a:ea typeface="Microsoft JhengHei"/>
                <a:cs typeface="Calibri"/>
              </a:rPr>
              <a:t>Introduction &amp; Motivation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8064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3272B"/>
                </a:solidFill>
                <a:latin typeface="Microsoft JhengHei"/>
                <a:ea typeface="Microsoft JhengHei"/>
                <a:cs typeface="Microsoft JhengHei"/>
              </a:rPr>
              <a:t>陳盛茂 ・ 林仙安 ・ 辛語柔 ・ 陳冠宇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6199632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8C9298"/>
                </a:solidFill>
                <a:latin typeface="Microsoft JhengHei"/>
                <a:ea typeface="Microsoft JhengHei"/>
                <a:cs typeface="Microsoft JhengHei"/>
              </a:rPr>
              <a:t>國立中興大學 資訊管理學研究所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512064"/>
            <a:ext cx="109728" cy="365760"/>
          </a:xfrm>
          <a:prstGeom prst="rect">
            <a:avLst/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57200"/>
            <a:ext cx="8778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00" b="1" i="0">
                <a:solidFill>
                  <a:srgbClr val="23272B"/>
                </a:solidFill>
                <a:latin typeface="Georgia"/>
                <a:ea typeface="Microsoft JhengHei"/>
                <a:cs typeface="Georgia"/>
              </a:rPr>
              <a:t>Outline 報告大綱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170432"/>
            <a:ext cx="11055096" cy="0"/>
          </a:xfrm>
          <a:prstGeom prst="line">
            <a:avLst/>
          </a:prstGeom>
          <a:ln w="12700">
            <a:solidFill>
              <a:srgbClr val="DDE1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1280160" y="1600200"/>
            <a:ext cx="548640" cy="548640"/>
          </a:xfrm>
          <a:prstGeom prst="roundRect">
            <a:avLst>
              <a:gd name="adj" fmla="val 25000"/>
            </a:avLst>
          </a:prstGeom>
          <a:solidFill>
            <a:srgbClr val="EAE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465059"/>
                </a:solidFill>
                <a:latin typeface="Georgia"/>
                <a:ea typeface="Microsoft JhengHei"/>
                <a:cs typeface="Georg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1581912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23272B"/>
                </a:solidFill>
                <a:latin typeface="Georgia"/>
                <a:ea typeface="Microsoft JhengHei"/>
                <a:cs typeface="Georgia"/>
              </a:rPr>
              <a:t>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911095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8C9298"/>
                </a:solidFill>
                <a:latin typeface="Microsoft JhengHei"/>
                <a:ea typeface="Microsoft JhengHei"/>
                <a:cs typeface="Microsoft JhengHei"/>
              </a:rPr>
              <a:t>研究背景與動機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80160" y="2532888"/>
            <a:ext cx="548640" cy="548640"/>
          </a:xfrm>
          <a:prstGeom prst="roundRect">
            <a:avLst>
              <a:gd name="adj" fmla="val 25000"/>
            </a:avLst>
          </a:prstGeom>
          <a:solidFill>
            <a:srgbClr val="EAE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465059"/>
                </a:solidFill>
                <a:latin typeface="Georgia"/>
                <a:ea typeface="Microsoft JhengHei"/>
                <a:cs typeface="Georgia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25146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23272B"/>
                </a:solidFill>
                <a:latin typeface="Georgia"/>
                <a:ea typeface="Microsoft JhengHei"/>
                <a:cs typeface="Georgia"/>
              </a:rPr>
              <a:t>Related 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2843784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8C9298"/>
                </a:solidFill>
                <a:latin typeface="Microsoft JhengHei"/>
                <a:ea typeface="Microsoft JhengHei"/>
                <a:cs typeface="Microsoft JhengHei"/>
              </a:rPr>
              <a:t>相關研究探討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80160" y="3465576"/>
            <a:ext cx="548640" cy="548640"/>
          </a:xfrm>
          <a:prstGeom prst="roundRect">
            <a:avLst>
              <a:gd name="adj" fmla="val 25000"/>
            </a:avLst>
          </a:prstGeom>
          <a:solidFill>
            <a:srgbClr val="EAE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465059"/>
                </a:solidFill>
                <a:latin typeface="Georgia"/>
                <a:ea typeface="Microsoft JhengHei"/>
                <a:cs typeface="Georgia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344728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23272B"/>
                </a:solidFill>
                <a:latin typeface="Georgia"/>
                <a:ea typeface="Microsoft JhengHei"/>
                <a:cs typeface="Georgia"/>
              </a:rPr>
              <a:t>Proposed Scheme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3776472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8C9298"/>
                </a:solidFill>
                <a:latin typeface="Microsoft JhengHei"/>
                <a:ea typeface="Microsoft JhengHei"/>
                <a:cs typeface="Microsoft JhengHei"/>
              </a:rPr>
              <a:t>Hermes-DQN 系統架構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0" y="4398264"/>
            <a:ext cx="548640" cy="548640"/>
          </a:xfrm>
          <a:prstGeom prst="roundRect">
            <a:avLst>
              <a:gd name="adj" fmla="val 25000"/>
            </a:avLst>
          </a:prstGeom>
          <a:solidFill>
            <a:srgbClr val="EAE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465059"/>
                </a:solidFill>
                <a:latin typeface="Georgia"/>
                <a:ea typeface="Microsoft JhengHei"/>
                <a:cs typeface="Georgia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4379976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23272B"/>
                </a:solidFill>
                <a:latin typeface="Georgia"/>
                <a:ea typeface="Microsoft JhengHei"/>
                <a:cs typeface="Georgia"/>
              </a:rPr>
              <a:t>Simulation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4709160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8C9298"/>
                </a:solidFill>
                <a:latin typeface="Microsoft JhengHei"/>
                <a:ea typeface="Microsoft JhengHei"/>
                <a:cs typeface="Microsoft JhengHei"/>
              </a:rPr>
              <a:t>實驗設計與結果分析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80160" y="5330952"/>
            <a:ext cx="548640" cy="548640"/>
          </a:xfrm>
          <a:prstGeom prst="roundRect">
            <a:avLst>
              <a:gd name="adj" fmla="val 25000"/>
            </a:avLst>
          </a:prstGeom>
          <a:solidFill>
            <a:srgbClr val="EAE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465059"/>
                </a:solidFill>
                <a:latin typeface="Georgia"/>
                <a:ea typeface="Microsoft JhengHei"/>
                <a:cs typeface="Georgia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5312664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23272B"/>
                </a:solidFill>
                <a:latin typeface="Georgia"/>
                <a:ea typeface="Microsoft JhengHei"/>
                <a:cs typeface="Georgia"/>
              </a:rPr>
              <a:t>Conclusion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5641848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8C9298"/>
                </a:solidFill>
                <a:latin typeface="Microsoft JhengHei"/>
                <a:ea typeface="Microsoft JhengHei"/>
                <a:cs typeface="Microsoft JhengHei"/>
              </a:rPr>
              <a:t>結論與未來展望</a:t>
            </a:r>
          </a:p>
        </p:txBody>
      </p:sp>
      <p:sp>
        <p:nvSpPr>
          <p:cNvPr id="20" name="Rectangle 19"/>
          <p:cNvSpPr/>
          <p:nvPr/>
        </p:nvSpPr>
        <p:spPr>
          <a:xfrm rot="180000">
            <a:off x="8869680" y="2011680"/>
            <a:ext cx="2468880" cy="2103120"/>
          </a:xfrm>
          <a:prstGeom prst="rect">
            <a:avLst/>
          </a:prstGeom>
          <a:solidFill>
            <a:srgbClr val="FBF1A9"/>
          </a:solidFill>
          <a:ln w="9525">
            <a:solidFill>
              <a:srgbClr val="E7D4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01600" bIns="101600"/>
          <a:lstStyle/>
          <a:p>
            <a:pPr algn="l">
              <a:lnSpc>
                <a:spcPct val="108000"/>
              </a:lnSpc>
            </a:pPr>
            <a:r>
              <a:rPr sz="1200" b="1" i="0">
                <a:solidFill>
                  <a:srgbClr val="D99A2B"/>
                </a:solidFill>
                <a:latin typeface="Calibri"/>
                <a:ea typeface="Microsoft JhengHei"/>
                <a:cs typeface="Calibri"/>
              </a:rPr>
              <a:t>本場聚焦</a:t>
            </a:r>
          </a:p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3272B"/>
                </a:solidFill>
                <a:latin typeface="Calibri"/>
                <a:ea typeface="Microsoft JhengHei"/>
                <a:cs typeface="Calibri"/>
              </a:rPr>
              <a:t>一個反直覺發現：</a:t>
            </a:r>
          </a:p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465059"/>
                </a:solidFill>
                <a:latin typeface="Calibri"/>
                <a:ea typeface="Microsoft JhengHei"/>
                <a:cs typeface="Calibri"/>
              </a:rPr>
              <a:t>「記憶」對 LLM 獎勵設計</a:t>
            </a:r>
          </a:p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465059"/>
                </a:solidFill>
                <a:latin typeface="Calibri"/>
                <a:ea typeface="Microsoft JhengHei"/>
                <a:cs typeface="Calibri"/>
              </a:rPr>
              <a:t>並非永遠有益——</a:t>
            </a:r>
          </a:p>
          <a:p>
            <a:pPr algn="l">
              <a:lnSpc>
                <a:spcPct val="108000"/>
              </a:lnSpc>
            </a:pPr>
            <a:r>
              <a:rPr sz="1200" b="1" i="0">
                <a:solidFill>
                  <a:srgbClr val="C4463D"/>
                </a:solidFill>
                <a:latin typeface="Calibri"/>
                <a:ea typeface="Microsoft JhengHei"/>
                <a:cs typeface="Calibri"/>
              </a:rPr>
              <a:t>效益取決於獎勵密度。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46480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8C9298"/>
                </a:solidFill>
                <a:latin typeface="Calibri"/>
                <a:ea typeface="Microsoft JhengHei"/>
                <a:cs typeface="Calibri"/>
              </a:rPr>
              <a:t>Hermes-DQN ・ 國立中興大學 資訊管理學研究所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0" y="646480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C9298"/>
                </a:solidFill>
                <a:latin typeface="Calibri"/>
                <a:ea typeface="Microsoft JhengHei"/>
                <a:cs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188720"/>
            <a:ext cx="3291840" cy="4206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0" b="1" i="0">
                <a:solidFill>
                  <a:srgbClr val="EAEDF0"/>
                </a:solidFill>
                <a:latin typeface="Georgia"/>
                <a:ea typeface="Georgia"/>
                <a:cs typeface="Georgia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0" y="2468880"/>
            <a:ext cx="8229600" cy="10058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5000" b="0" i="0">
                <a:solidFill>
                  <a:srgbClr val="23272B"/>
                </a:solidFill>
                <a:latin typeface="Georgia"/>
                <a:ea typeface="Microsoft JhengHei"/>
                <a:cs typeface="Georgia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46704" y="3611880"/>
            <a:ext cx="8229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465059"/>
                </a:solidFill>
                <a:latin typeface="Microsoft JhengHei"/>
                <a:ea typeface="Microsoft JhengHei"/>
                <a:cs typeface="Microsoft JhengHei"/>
              </a:rPr>
              <a:t>研究背景與動機</a:t>
            </a:r>
          </a:p>
        </p:txBody>
      </p:sp>
      <p:sp>
        <p:nvSpPr>
          <p:cNvPr id="5" name="Rectangle 4"/>
          <p:cNvSpPr/>
          <p:nvPr/>
        </p:nvSpPr>
        <p:spPr>
          <a:xfrm>
            <a:off x="3346704" y="3456432"/>
            <a:ext cx="1280160" cy="36576"/>
          </a:xfrm>
          <a:prstGeom prst="rect">
            <a:avLst/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512064"/>
            <a:ext cx="109728" cy="365760"/>
          </a:xfrm>
          <a:prstGeom prst="rect">
            <a:avLst/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57200"/>
            <a:ext cx="8778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00" b="1" i="0">
                <a:solidFill>
                  <a:srgbClr val="23272B"/>
                </a:solidFill>
                <a:latin typeface="Georgia"/>
                <a:ea typeface="Microsoft JhengHei"/>
                <a:cs typeface="Georgia"/>
              </a:rPr>
              <a:t>DRL 的瓶頸與 EUREKA 的三大侷限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75519" y="512064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465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Motivation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170432"/>
            <a:ext cx="11055096" cy="0"/>
          </a:xfrm>
          <a:prstGeom prst="line">
            <a:avLst/>
          </a:prstGeom>
          <a:ln w="12700">
            <a:solidFill>
              <a:srgbClr val="DDE1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40080" y="1554480"/>
            <a:ext cx="2606040" cy="146304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2700">
            <a:solidFill>
              <a:srgbClr val="C6D9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3F6FA8"/>
                </a:solidFill>
                <a:latin typeface="Calibri"/>
                <a:ea typeface="Microsoft JhengHei"/>
                <a:cs typeface="Calibri"/>
              </a:rPr>
              <a:t>獎勵設計兩難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 i="0">
                <a:solidFill>
                  <a:srgbClr val="23272B"/>
                </a:solidFill>
                <a:latin typeface="Calibri"/>
                <a:ea typeface="Microsoft JhengHei"/>
                <a:cs typeface="Calibri"/>
              </a:rPr>
              <a:t>稀疏 (Sparse) → 難以學習</a:t>
            </a:r>
          </a:p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3272B"/>
                </a:solidFill>
                <a:latin typeface="Calibri"/>
                <a:ea typeface="Microsoft JhengHei"/>
                <a:cs typeface="Calibri"/>
              </a:rPr>
              <a:t>人工塑形 (Dense) → 引入偏差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11880" y="1554480"/>
            <a:ext cx="2468880" cy="1463040"/>
          </a:xfrm>
          <a:prstGeom prst="roundRect">
            <a:avLst>
              <a:gd name="adj" fmla="val 8000"/>
            </a:avLst>
          </a:prstGeom>
          <a:solidFill>
            <a:srgbClr val="E9F4EC"/>
          </a:solidFill>
          <a:ln w="12700">
            <a:solidFill>
              <a:srgbClr val="BEE2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2E8B57"/>
                </a:solidFill>
                <a:latin typeface="Calibri"/>
                <a:ea typeface="Microsoft JhengHei"/>
                <a:cs typeface="Calibri"/>
              </a:rPr>
              <a:t>EUREKA (ICLR 2024)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 i="0">
                <a:solidFill>
                  <a:srgbClr val="23272B"/>
                </a:solidFill>
                <a:latin typeface="Calibri"/>
                <a:ea typeface="Microsoft JhengHei"/>
                <a:cs typeface="Calibri"/>
              </a:rPr>
              <a:t>以 GPT-4 自動撰寫獎勵函數</a:t>
            </a:r>
          </a:p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3272B"/>
                </a:solidFill>
                <a:latin typeface="Calibri"/>
                <a:ea typeface="Microsoft JhengHei"/>
                <a:cs typeface="Calibri"/>
              </a:rPr>
              <a:t>83% 任務超越人類專家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246120" y="2286000"/>
            <a:ext cx="365760" cy="0"/>
          </a:xfrm>
          <a:prstGeom prst="line">
            <a:avLst/>
          </a:prstGeom>
          <a:ln w="25400">
            <a:solidFill>
              <a:srgbClr val="8C9298"/>
            </a:solidFill>
            <a:headEnd type="none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080760" y="2286000"/>
            <a:ext cx="457200" cy="0"/>
          </a:xfrm>
          <a:prstGeom prst="line">
            <a:avLst/>
          </a:prstGeom>
          <a:ln w="25400">
            <a:solidFill>
              <a:srgbClr val="8C9298"/>
            </a:solidFill>
            <a:headEnd type="none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537960" y="1554480"/>
            <a:ext cx="4983480" cy="1078992"/>
          </a:xfrm>
          <a:prstGeom prst="roundRect">
            <a:avLst>
              <a:gd name="adj" fmla="val 10000"/>
            </a:avLst>
          </a:prstGeom>
          <a:solidFill>
            <a:srgbClr val="FBEAE8"/>
          </a:solidFill>
          <a:ln w="12700">
            <a:solidFill>
              <a:srgbClr val="F0C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784848" y="1764792"/>
            <a:ext cx="237744" cy="237744"/>
          </a:xfrm>
          <a:prstGeom prst="ellipse">
            <a:avLst/>
          </a:prstGeom>
          <a:solidFill>
            <a:srgbClr val="C44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78040" y="1682495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C4463D"/>
                </a:solidFill>
                <a:latin typeface="Microsoft JhengHei"/>
                <a:ea typeface="Microsoft JhengHei"/>
                <a:cs typeface="Microsoft JhengHei"/>
              </a:rPr>
              <a:t>依賴商業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8040" y="2084831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65059"/>
                </a:solidFill>
                <a:latin typeface="Microsoft JhengHei"/>
                <a:ea typeface="Microsoft JhengHei"/>
                <a:cs typeface="Microsoft JhengHei"/>
              </a:rPr>
              <a:t>GPT-4 費用高、無法離線、不可重現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2788920"/>
            <a:ext cx="4983480" cy="1078992"/>
          </a:xfrm>
          <a:prstGeom prst="roundRect">
            <a:avLst>
              <a:gd name="adj" fmla="val 10000"/>
            </a:avLst>
          </a:prstGeom>
          <a:solidFill>
            <a:srgbClr val="FBEAE8"/>
          </a:solidFill>
          <a:ln w="12700">
            <a:solidFill>
              <a:srgbClr val="F0C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84848" y="2999232"/>
            <a:ext cx="237744" cy="237744"/>
          </a:xfrm>
          <a:prstGeom prst="ellipse">
            <a:avLst/>
          </a:prstGeom>
          <a:solidFill>
            <a:srgbClr val="C44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916936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C4463D"/>
                </a:solidFill>
                <a:latin typeface="Microsoft JhengHei"/>
                <a:ea typeface="Microsoft JhengHei"/>
                <a:cs typeface="Microsoft JhengHei"/>
              </a:rPr>
              <a:t>缺乏跨輪記憶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78040" y="3319272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65059"/>
                </a:solidFill>
                <a:latin typeface="Microsoft JhengHei"/>
                <a:ea typeface="Microsoft JhengHei"/>
                <a:cs typeface="Microsoft JhengHei"/>
              </a:rPr>
              <a:t>每次迭代從零開始，無法累積經驗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37960" y="4023360"/>
            <a:ext cx="4983480" cy="1078992"/>
          </a:xfrm>
          <a:prstGeom prst="roundRect">
            <a:avLst>
              <a:gd name="adj" fmla="val 10000"/>
            </a:avLst>
          </a:prstGeom>
          <a:solidFill>
            <a:srgbClr val="FBEAE8"/>
          </a:solidFill>
          <a:ln w="12700">
            <a:solidFill>
              <a:srgbClr val="F0C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784848" y="4233672"/>
            <a:ext cx="237744" cy="237744"/>
          </a:xfrm>
          <a:prstGeom prst="ellipse">
            <a:avLst/>
          </a:prstGeom>
          <a:solidFill>
            <a:srgbClr val="C44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78040" y="4151376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C4463D"/>
                </a:solidFill>
                <a:latin typeface="Microsoft JhengHei"/>
                <a:ea typeface="Microsoft JhengHei"/>
                <a:cs typeface="Microsoft JhengHei"/>
              </a:rPr>
              <a:t>忽略緩衝區失效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4553712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65059"/>
                </a:solidFill>
                <a:latin typeface="Microsoft JhengHei"/>
                <a:ea typeface="Microsoft JhengHei"/>
                <a:cs typeface="Microsoft JhengHei"/>
              </a:rPr>
              <a:t>獎勵變動使 DQN 發生災難性遺忘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383280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3272B"/>
                </a:solidFill>
                <a:latin typeface="Microsoft JhengHei"/>
                <a:ea typeface="Microsoft JhengHei"/>
                <a:cs typeface="Microsoft JhengHei"/>
              </a:rPr>
              <a:t>→ 三大缺口同時存在，尚無單一框架完整解決。</a:t>
            </a:r>
          </a:p>
        </p:txBody>
      </p:sp>
      <p:sp>
        <p:nvSpPr>
          <p:cNvPr id="23" name="Rectangle 22"/>
          <p:cNvSpPr/>
          <p:nvPr/>
        </p:nvSpPr>
        <p:spPr>
          <a:xfrm rot="21480000">
            <a:off x="640080" y="4160520"/>
            <a:ext cx="5394960" cy="1737360"/>
          </a:xfrm>
          <a:prstGeom prst="rect">
            <a:avLst/>
          </a:prstGeom>
          <a:solidFill>
            <a:srgbClr val="FBF1A9"/>
          </a:solidFill>
          <a:ln w="9525">
            <a:solidFill>
              <a:srgbClr val="E7D4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01600" bIns="101600"/>
          <a:lstStyle/>
          <a:p>
            <a:pPr algn="l">
              <a:lnSpc>
                <a:spcPct val="108000"/>
              </a:lnSpc>
            </a:pPr>
            <a:r>
              <a:rPr sz="1200" b="1" i="0">
                <a:solidFill>
                  <a:srgbClr val="D99A2B"/>
                </a:solidFill>
                <a:latin typeface="Calibri"/>
                <a:ea typeface="Microsoft JhengHei"/>
                <a:cs typeface="Calibri"/>
              </a:rPr>
              <a:t>研究契機</a:t>
            </a:r>
          </a:p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23272B"/>
                </a:solidFill>
                <a:latin typeface="Calibri"/>
                <a:ea typeface="Microsoft JhengHei"/>
                <a:cs typeface="Calibri"/>
              </a:rPr>
              <a:t>若能用開源模型 + 記憶 + 緩衝區管理</a:t>
            </a:r>
          </a:p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23272B"/>
                </a:solidFill>
                <a:latin typeface="Calibri"/>
                <a:ea typeface="Microsoft JhengHei"/>
                <a:cs typeface="Calibri"/>
              </a:rPr>
              <a:t>一次補上這三個缺口，</a:t>
            </a:r>
          </a:p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3272B"/>
                </a:solidFill>
                <a:latin typeface="Calibri"/>
                <a:ea typeface="Microsoft JhengHei"/>
                <a:cs typeface="Calibri"/>
              </a:rPr>
              <a:t>自動化獎勵設計才可能真正落地。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646480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8C9298"/>
                </a:solidFill>
                <a:latin typeface="Calibri"/>
                <a:ea typeface="Microsoft JhengHei"/>
                <a:cs typeface="Calibri"/>
              </a:rPr>
              <a:t>Hermes-DQN ・ 國立中興大學 資訊管理學研究所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46480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C9298"/>
                </a:solidFill>
                <a:latin typeface="Calibri"/>
                <a:ea typeface="Microsoft JhengHei"/>
                <a:cs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512064"/>
            <a:ext cx="109728" cy="365760"/>
          </a:xfrm>
          <a:prstGeom prst="rect">
            <a:avLst/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57200"/>
            <a:ext cx="8778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00" b="1" i="0">
                <a:solidFill>
                  <a:srgbClr val="23272B"/>
                </a:solidFill>
                <a:latin typeface="Georgia"/>
                <a:ea typeface="Microsoft JhengHei"/>
                <a:cs typeface="Georgia"/>
              </a:rPr>
              <a:t>核心研究問題與假說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235440" y="512064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465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Research Questions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170432"/>
            <a:ext cx="11055096" cy="0"/>
          </a:xfrm>
          <a:prstGeom prst="line">
            <a:avLst/>
          </a:prstGeom>
          <a:ln w="12700">
            <a:solidFill>
              <a:srgbClr val="DDE1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794760" y="1737360"/>
            <a:ext cx="4572000" cy="2011680"/>
          </a:xfrm>
          <a:prstGeom prst="roundRect">
            <a:avLst>
              <a:gd name="adj" fmla="val 6000"/>
            </a:avLst>
          </a:prstGeom>
          <a:solidFill>
            <a:srgbClr val="232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FBF1A9"/>
                </a:solidFill>
                <a:latin typeface="Calibri"/>
                <a:ea typeface="Microsoft JhengHei"/>
                <a:cs typeface="Calibri"/>
              </a:rPr>
              <a:t>核心問題</a:t>
            </a:r>
          </a:p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同時解決「開源化、記憶化、</a:t>
            </a:r>
          </a:p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緩衝區穩定化」之後，</a:t>
            </a:r>
          </a:p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LLM 設計的獎勵函數</a:t>
            </a:r>
          </a:p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BF1A9"/>
                </a:solidFill>
                <a:latin typeface="Calibri"/>
                <a:ea typeface="Microsoft JhengHei"/>
                <a:cs typeface="Calibri"/>
              </a:rPr>
              <a:t>能否普遍有效？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2743200" cy="1188720"/>
          </a:xfrm>
          <a:prstGeom prst="roundRect">
            <a:avLst>
              <a:gd name="adj" fmla="val 10000"/>
            </a:avLst>
          </a:prstGeom>
          <a:solidFill>
            <a:srgbClr val="EAF1F8"/>
          </a:solidFill>
          <a:ln w="12700">
            <a:solidFill>
              <a:srgbClr val="C6D9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400" b="1" i="0">
                <a:solidFill>
                  <a:srgbClr val="3F6FA8"/>
                </a:solidFill>
                <a:latin typeface="Calibri"/>
                <a:ea typeface="Microsoft JhengHei"/>
                <a:cs typeface="Calibri"/>
              </a:rPr>
              <a:t>開源化</a:t>
            </a:r>
          </a:p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465059"/>
                </a:solidFill>
                <a:latin typeface="Calibri"/>
                <a:ea typeface="Microsoft JhengHei"/>
                <a:cs typeface="Calibri"/>
              </a:rPr>
              <a:t>能否以輕量級開源模型取代 GPT-4？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78240" y="1874519"/>
            <a:ext cx="2743200" cy="1188720"/>
          </a:xfrm>
          <a:prstGeom prst="roundRect">
            <a:avLst>
              <a:gd name="adj" fmla="val 10000"/>
            </a:avLst>
          </a:prstGeom>
          <a:solidFill>
            <a:srgbClr val="E9F4EC"/>
          </a:solidFill>
          <a:ln w="12700">
            <a:solidFill>
              <a:srgbClr val="BEE2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400" b="1" i="0">
                <a:solidFill>
                  <a:srgbClr val="2E8B57"/>
                </a:solidFill>
                <a:latin typeface="Calibri"/>
                <a:ea typeface="Microsoft JhengHei"/>
                <a:cs typeface="Calibri"/>
              </a:rPr>
              <a:t>記憶化</a:t>
            </a:r>
          </a:p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465059"/>
                </a:solidFill>
                <a:latin typeface="Calibri"/>
                <a:ea typeface="Microsoft JhengHei"/>
                <a:cs typeface="Calibri"/>
              </a:rPr>
              <a:t>跨迭代累積經驗是否「必定」帶來正向效益？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4114800"/>
            <a:ext cx="2743200" cy="1188720"/>
          </a:xfrm>
          <a:prstGeom prst="roundRect">
            <a:avLst>
              <a:gd name="adj" fmla="val 10000"/>
            </a:avLst>
          </a:prstGeom>
          <a:solidFill>
            <a:srgbClr val="FBEAE8"/>
          </a:solidFill>
          <a:ln w="12700">
            <a:solidFill>
              <a:srgbClr val="E7D4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400" b="1" i="0">
                <a:solidFill>
                  <a:srgbClr val="D99A2B"/>
                </a:solidFill>
                <a:latin typeface="Calibri"/>
                <a:ea typeface="Microsoft JhengHei"/>
                <a:cs typeface="Calibri"/>
              </a:rPr>
              <a:t>緩衝穩定</a:t>
            </a:r>
          </a:p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465059"/>
                </a:solidFill>
                <a:latin typeface="Calibri"/>
                <a:ea typeface="Microsoft JhengHei"/>
                <a:cs typeface="Calibri"/>
              </a:rPr>
              <a:t>如何在獎勵非穩態下保護 DQN 歷史樣本？</a:t>
            </a:r>
          </a:p>
        </p:txBody>
      </p:sp>
      <p:sp>
        <p:nvSpPr>
          <p:cNvPr id="10" name="Rectangle 9"/>
          <p:cNvSpPr/>
          <p:nvPr/>
        </p:nvSpPr>
        <p:spPr>
          <a:xfrm rot="120000">
            <a:off x="8595360" y="4023360"/>
            <a:ext cx="2926080" cy="1417320"/>
          </a:xfrm>
          <a:prstGeom prst="rect">
            <a:avLst/>
          </a:prstGeom>
          <a:solidFill>
            <a:srgbClr val="FBF1A9"/>
          </a:solidFill>
          <a:ln w="9525">
            <a:solidFill>
              <a:srgbClr val="E7D4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01600" bIns="101600"/>
          <a:lstStyle/>
          <a:p>
            <a:pPr algn="l">
              <a:lnSpc>
                <a:spcPct val="108000"/>
              </a:lnSpc>
            </a:pPr>
            <a:r>
              <a:rPr sz="1200" b="1" i="0">
                <a:solidFill>
                  <a:srgbClr val="D99A2B"/>
                </a:solidFill>
                <a:latin typeface="Calibri"/>
                <a:ea typeface="Microsoft JhengHei"/>
                <a:cs typeface="Calibri"/>
              </a:rPr>
              <a:t>預期 (假說)</a:t>
            </a:r>
          </a:p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23272B"/>
                </a:solidFill>
                <a:latin typeface="Calibri"/>
                <a:ea typeface="Microsoft JhengHei"/>
                <a:cs typeface="Calibri"/>
              </a:rPr>
              <a:t>記憶機制應能幫 LLM 寫出更好</a:t>
            </a:r>
          </a:p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23272B"/>
                </a:solidFill>
                <a:latin typeface="Calibri"/>
                <a:ea typeface="Microsoft JhengHei"/>
                <a:cs typeface="Calibri"/>
              </a:rPr>
              <a:t>的獎勵，且效益跨任務一致。</a:t>
            </a:r>
          </a:p>
          <a:p>
            <a:pPr algn="l">
              <a:lnSpc>
                <a:spcPct val="108000"/>
              </a:lnSpc>
            </a:pPr>
            <a:r>
              <a:rPr sz="1200" b="1" i="0">
                <a:solidFill>
                  <a:srgbClr val="C4463D"/>
                </a:solidFill>
                <a:latin typeface="Calibri"/>
                <a:ea typeface="Microsoft JhengHei"/>
                <a:cs typeface="Calibri"/>
              </a:rPr>
              <a:t>→ 本研究將檢驗它。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6480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8C9298"/>
                </a:solidFill>
                <a:latin typeface="Calibri"/>
                <a:ea typeface="Microsoft JhengHei"/>
                <a:cs typeface="Calibri"/>
              </a:rPr>
              <a:t>Hermes-DQN ・ 國立中興大學 資訊管理學研究所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6480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C9298"/>
                </a:solidFill>
                <a:latin typeface="Calibri"/>
                <a:ea typeface="Microsoft JhengHei"/>
                <a:cs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188720"/>
            <a:ext cx="3291840" cy="4206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0" b="1" i="0">
                <a:solidFill>
                  <a:srgbClr val="EAEDF0"/>
                </a:solidFill>
                <a:latin typeface="Georgia"/>
                <a:ea typeface="Georgia"/>
                <a:cs typeface="Georgia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0" y="2468880"/>
            <a:ext cx="8229600" cy="10058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5000" b="0" i="0">
                <a:solidFill>
                  <a:srgbClr val="23272B"/>
                </a:solidFill>
                <a:latin typeface="Georgia"/>
                <a:ea typeface="Microsoft JhengHei"/>
                <a:cs typeface="Georgia"/>
              </a:rPr>
              <a:t>Related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46704" y="3611880"/>
            <a:ext cx="8229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465059"/>
                </a:solidFill>
                <a:latin typeface="Microsoft JhengHei"/>
                <a:ea typeface="Microsoft JhengHei"/>
                <a:cs typeface="Microsoft JhengHei"/>
              </a:rPr>
              <a:t>相關研究探討</a:t>
            </a:r>
          </a:p>
        </p:txBody>
      </p:sp>
      <p:sp>
        <p:nvSpPr>
          <p:cNvPr id="5" name="Rectangle 4"/>
          <p:cNvSpPr/>
          <p:nvPr/>
        </p:nvSpPr>
        <p:spPr>
          <a:xfrm>
            <a:off x="3346704" y="3456432"/>
            <a:ext cx="1280160" cy="36576"/>
          </a:xfrm>
          <a:prstGeom prst="rect">
            <a:avLst/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512064"/>
            <a:ext cx="109728" cy="365760"/>
          </a:xfrm>
          <a:prstGeom prst="rect">
            <a:avLst/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57200"/>
            <a:ext cx="8778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00" b="1" i="0">
                <a:solidFill>
                  <a:srgbClr val="23272B"/>
                </a:solidFill>
                <a:latin typeface="Georgia"/>
                <a:ea typeface="Microsoft JhengHei"/>
                <a:cs typeface="Georgia"/>
              </a:rPr>
              <a:t>Pillar 1｜LLM 撰寫獎勵函數之演進與侷限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84080" y="512064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465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Related Work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170432"/>
            <a:ext cx="11055096" cy="0"/>
          </a:xfrm>
          <a:prstGeom prst="line">
            <a:avLst/>
          </a:prstGeom>
          <a:ln w="12700">
            <a:solidFill>
              <a:srgbClr val="DDE1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200400" y="1600200"/>
            <a:ext cx="246887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465059"/>
                </a:solidFill>
                <a:latin typeface="Microsoft JhengHei"/>
                <a:ea typeface="Microsoft JhengHei"/>
                <a:cs typeface="Microsoft JhengHei"/>
              </a:rPr>
              <a:t>核心模型 /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1600200"/>
            <a:ext cx="246887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465059"/>
                </a:solidFill>
                <a:latin typeface="Microsoft JhengHei"/>
                <a:ea typeface="Microsoft JhengHei"/>
                <a:cs typeface="Microsoft JhengHei"/>
              </a:rPr>
              <a:t>跨代記憶 (Memory)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160020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465059"/>
                </a:solidFill>
                <a:latin typeface="Microsoft JhengHei"/>
                <a:ea typeface="Microsoft JhengHei"/>
                <a:cs typeface="Microsoft JhengHei"/>
              </a:rPr>
              <a:t>緩衝區遺忘處理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2148839"/>
            <a:ext cx="10607039" cy="0"/>
          </a:xfrm>
          <a:prstGeom prst="line">
            <a:avLst/>
          </a:prstGeom>
          <a:ln w="12700">
            <a:solidFill>
              <a:srgbClr val="DDE1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31519" y="2221991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3272B"/>
                </a:solidFill>
                <a:latin typeface="Georgia"/>
                <a:ea typeface="Microsoft JhengHei"/>
                <a:cs typeface="Georgia"/>
              </a:rPr>
              <a:t>EUREKA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19" y="2532887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8C9298"/>
                </a:solidFill>
                <a:latin typeface="Calibri"/>
                <a:ea typeface="Microsoft JhengHei"/>
                <a:cs typeface="Calibri"/>
              </a:rPr>
              <a:t>(Ma et al., ICLR 2024)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240279"/>
            <a:ext cx="2468879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465059"/>
                </a:solidFill>
                <a:latin typeface="Microsoft JhengHei"/>
                <a:ea typeface="Microsoft JhengHei"/>
                <a:cs typeface="Microsoft JhengHei"/>
              </a:rPr>
              <a:t>依賴 GPT-4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2240279"/>
            <a:ext cx="2468879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465059"/>
                </a:solidFill>
                <a:latin typeface="Microsoft JhengHei"/>
                <a:ea typeface="Microsoft JhengHei"/>
                <a:cs typeface="Microsoft JhengHei"/>
              </a:rPr>
              <a:t>無記憶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240279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465059"/>
                </a:solidFill>
                <a:latin typeface="Microsoft JhengHei"/>
                <a:ea typeface="Microsoft JhengHei"/>
                <a:cs typeface="Microsoft JhengHei"/>
              </a:rPr>
              <a:t>無處理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40080" y="2862072"/>
            <a:ext cx="10607039" cy="0"/>
          </a:xfrm>
          <a:prstGeom prst="line">
            <a:avLst/>
          </a:prstGeom>
          <a:ln w="12700">
            <a:solidFill>
              <a:srgbClr val="DDE1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31519" y="2935224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3272B"/>
                </a:solidFill>
                <a:latin typeface="Georgia"/>
                <a:ea typeface="Microsoft JhengHei"/>
                <a:cs typeface="Georgia"/>
              </a:rPr>
              <a:t>CARD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19" y="324612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8C9298"/>
                </a:solidFill>
                <a:latin typeface="Calibri"/>
                <a:ea typeface="Microsoft JhengHei"/>
                <a:cs typeface="Calibri"/>
              </a:rPr>
              <a:t>(Sun et al., 2024)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2953512"/>
            <a:ext cx="2468879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465059"/>
                </a:solidFill>
                <a:latin typeface="Microsoft JhengHei"/>
                <a:ea typeface="Microsoft JhengHei"/>
                <a:cs typeface="Microsoft JhengHei"/>
              </a:rPr>
              <a:t>依賴 LLM 評論員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0" y="2953512"/>
            <a:ext cx="2468879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465059"/>
                </a:solidFill>
                <a:latin typeface="Microsoft JhengHei"/>
                <a:ea typeface="Microsoft JhengHei"/>
                <a:cs typeface="Microsoft JhengHei"/>
              </a:rPr>
              <a:t>無原生環境記憶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2953512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465059"/>
                </a:solidFill>
                <a:latin typeface="Microsoft JhengHei"/>
                <a:ea typeface="Microsoft JhengHei"/>
                <a:cs typeface="Microsoft JhengHei"/>
              </a:rPr>
              <a:t>無處理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40080" y="3575304"/>
            <a:ext cx="10607039" cy="0"/>
          </a:xfrm>
          <a:prstGeom prst="line">
            <a:avLst/>
          </a:prstGeom>
          <a:ln w="12700">
            <a:solidFill>
              <a:srgbClr val="DDE1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31519" y="3648456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3272B"/>
                </a:solidFill>
                <a:latin typeface="Georgia"/>
                <a:ea typeface="Microsoft JhengHei"/>
                <a:cs typeface="Georgia"/>
              </a:rPr>
              <a:t>LEARN-Opt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19" y="395935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8C9298"/>
                </a:solidFill>
                <a:latin typeface="Calibri"/>
                <a:ea typeface="Microsoft JhengHei"/>
                <a:cs typeface="Calibri"/>
              </a:rPr>
              <a:t>(Cardenoso &amp; Caarls, 2025)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3666744"/>
            <a:ext cx="2468879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465059"/>
                </a:solidFill>
                <a:latin typeface="Microsoft JhengHei"/>
                <a:ea typeface="Microsoft JhengHei"/>
                <a:cs typeface="Microsoft JhengHei"/>
              </a:rPr>
              <a:t>開源小模型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0" y="3666744"/>
            <a:ext cx="2468879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465059"/>
                </a:solidFill>
                <a:latin typeface="Microsoft JhengHei"/>
                <a:ea typeface="Microsoft JhengHei"/>
                <a:cs typeface="Microsoft JhengHei"/>
              </a:rPr>
              <a:t>無記憶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3666744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465059"/>
                </a:solidFill>
                <a:latin typeface="Microsoft JhengHei"/>
                <a:ea typeface="Microsoft JhengHei"/>
                <a:cs typeface="Microsoft JhengHei"/>
              </a:rPr>
              <a:t>無處理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40080" y="4288536"/>
            <a:ext cx="10607039" cy="0"/>
          </a:xfrm>
          <a:prstGeom prst="line">
            <a:avLst/>
          </a:prstGeom>
          <a:ln w="12700">
            <a:solidFill>
              <a:srgbClr val="DDE1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40080" y="4434840"/>
            <a:ext cx="10881360" cy="1417320"/>
          </a:xfrm>
          <a:prstGeom prst="roundRect">
            <a:avLst>
              <a:gd name="adj" fmla="val 5000"/>
            </a:avLst>
          </a:prstGeom>
          <a:solidFill>
            <a:srgbClr val="E9F4EC"/>
          </a:solidFill>
          <a:ln w="12700">
            <a:solidFill>
              <a:srgbClr val="BEE2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5720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E8B57"/>
                </a:solidFill>
                <a:latin typeface="Microsoft JhengHei"/>
                <a:ea typeface="Microsoft JhengHei"/>
                <a:cs typeface="Microsoft JhengHei"/>
              </a:rPr>
              <a:t>Research Gap｜當前三大侷限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029200"/>
            <a:ext cx="3383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23272B"/>
                </a:solidFill>
                <a:latin typeface="Microsoft JhengHei"/>
                <a:ea typeface="Microsoft JhengHei"/>
                <a:cs typeface="Microsoft JhengHei"/>
              </a:rPr>
              <a:t>1. 過度依賴昂貴且無法離線的商業 API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34840" y="5029200"/>
            <a:ext cx="3383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23272B"/>
                </a:solidFill>
                <a:latin typeface="Microsoft JhengHei"/>
                <a:ea typeface="Microsoft JhengHei"/>
                <a:cs typeface="Microsoft JhengHei"/>
              </a:rPr>
              <a:t>2. 缺乏跨迭代的經驗累積 (Memory)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5279" y="5029200"/>
            <a:ext cx="3383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23272B"/>
                </a:solidFill>
                <a:latin typeface="Microsoft JhengHei"/>
                <a:ea typeface="Microsoft JhengHei"/>
                <a:cs typeface="Microsoft JhengHei"/>
              </a:rPr>
              <a:t>3. 未處理獎勵變更導致的歷史樣本失效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646480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8C9298"/>
                </a:solidFill>
                <a:latin typeface="Calibri"/>
                <a:ea typeface="Microsoft JhengHei"/>
                <a:cs typeface="Calibri"/>
              </a:rPr>
              <a:t>Hermes-DQN ・ 國立中興大學 資訊管理學研究所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89920" y="646480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C9298"/>
                </a:solidFill>
                <a:latin typeface="Calibri"/>
                <a:ea typeface="Microsoft JhengHei"/>
                <a:cs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512064"/>
            <a:ext cx="109728" cy="365760"/>
          </a:xfrm>
          <a:prstGeom prst="rect">
            <a:avLst/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57200"/>
            <a:ext cx="8778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00" b="1" i="0">
                <a:solidFill>
                  <a:srgbClr val="23272B"/>
                </a:solidFill>
                <a:latin typeface="Georgia"/>
                <a:ea typeface="Microsoft JhengHei"/>
                <a:cs typeface="Georgia"/>
              </a:rPr>
              <a:t>Pillar 2｜記憶擴增之 LLM 智能體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84080" y="512064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465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Related Work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170432"/>
            <a:ext cx="11055096" cy="0"/>
          </a:xfrm>
          <a:prstGeom prst="line">
            <a:avLst/>
          </a:prstGeom>
          <a:ln w="12700">
            <a:solidFill>
              <a:srgbClr val="DDE1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371600"/>
            <a:ext cx="6949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465059"/>
                </a:solidFill>
                <a:latin typeface="Microsoft JhengHei"/>
                <a:ea typeface="Microsoft JhengHei"/>
                <a:cs typeface="Microsoft JhengHei"/>
              </a:rPr>
              <a:t>「記憶架構是近期智能體進步的最大推手：OSWorld 準確率 12% → 66.3%」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6949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8C9298"/>
                </a:solidFill>
                <a:latin typeface="Calibri"/>
                <a:ea typeface="Microsoft JhengHei"/>
                <a:cs typeface="Calibri"/>
              </a:rPr>
              <a:t>— Stanford HAI 2026 AI Index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423160"/>
            <a:ext cx="6766560" cy="749808"/>
          </a:xfrm>
          <a:prstGeom prst="roundRect">
            <a:avLst>
              <a:gd name="adj" fmla="val 10000"/>
            </a:avLst>
          </a:prstGeom>
          <a:solidFill>
            <a:srgbClr val="EAF1F8"/>
          </a:solidFill>
          <a:ln w="12700">
            <a:solidFill>
              <a:srgbClr val="C6D9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53288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3F6FA8"/>
                </a:solidFill>
                <a:latin typeface="Georgia"/>
                <a:ea typeface="Microsoft JhengHei"/>
                <a:cs typeface="Georgia"/>
              </a:rPr>
              <a:t>Procedural Memory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8346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65059"/>
                </a:solidFill>
                <a:latin typeface="Microsoft JhengHei"/>
                <a:ea typeface="Microsoft JhengHei"/>
                <a:cs typeface="Microsoft JhengHei"/>
              </a:rPr>
              <a:t>SKILL.md — 固化操作規則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300984"/>
            <a:ext cx="6766560" cy="749808"/>
          </a:xfrm>
          <a:prstGeom prst="roundRect">
            <a:avLst>
              <a:gd name="adj" fmla="val 10000"/>
            </a:avLst>
          </a:prstGeom>
          <a:solidFill>
            <a:srgbClr val="EAF1F8"/>
          </a:solidFill>
          <a:ln w="12700">
            <a:solidFill>
              <a:srgbClr val="C6D9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41071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3F6FA8"/>
                </a:solidFill>
                <a:latin typeface="Georgia"/>
                <a:ea typeface="Microsoft JhengHei"/>
                <a:cs typeface="Georgia"/>
              </a:rPr>
              <a:t>Semantic Memory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712463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65059"/>
                </a:solidFill>
                <a:latin typeface="Microsoft JhengHei"/>
                <a:ea typeface="Microsoft JhengHei"/>
                <a:cs typeface="Microsoft JhengHei"/>
              </a:rPr>
              <a:t>USER / MEMORY.md — 成功/失敗範例知識庫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178808"/>
            <a:ext cx="6766560" cy="749808"/>
          </a:xfrm>
          <a:prstGeom prst="roundRect">
            <a:avLst>
              <a:gd name="adj" fmla="val 10000"/>
            </a:avLst>
          </a:prstGeom>
          <a:solidFill>
            <a:srgbClr val="EAF1F8"/>
          </a:solidFill>
          <a:ln w="12700">
            <a:solidFill>
              <a:srgbClr val="C6D9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288536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3F6FA8"/>
                </a:solidFill>
                <a:latin typeface="Georgia"/>
                <a:ea typeface="Microsoft JhengHei"/>
                <a:cs typeface="Georgia"/>
              </a:rPr>
              <a:t>Episodic Memory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59028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65059"/>
                </a:solidFill>
                <a:latin typeface="Microsoft JhengHei"/>
                <a:ea typeface="Microsoft JhengHei"/>
                <a:cs typeface="Microsoft JhengHei"/>
              </a:rPr>
              <a:t>SQLite FTS5 — 完整歷史與 Fitness 指標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056632"/>
            <a:ext cx="6766560" cy="749808"/>
          </a:xfrm>
          <a:prstGeom prst="roundRect">
            <a:avLst>
              <a:gd name="adj" fmla="val 10000"/>
            </a:avLst>
          </a:prstGeom>
          <a:solidFill>
            <a:srgbClr val="EAF1F8"/>
          </a:solidFill>
          <a:ln w="12700">
            <a:solidFill>
              <a:srgbClr val="C6D9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1663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3F6FA8"/>
                </a:solidFill>
                <a:latin typeface="Georgia"/>
                <a:ea typeface="Microsoft JhengHei"/>
                <a:cs typeface="Georgia"/>
              </a:rPr>
              <a:t>Working Memory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46811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65059"/>
                </a:solidFill>
                <a:latin typeface="Microsoft JhengHei"/>
                <a:ea typeface="Microsoft JhengHei"/>
                <a:cs typeface="Microsoft JhengHei"/>
              </a:rPr>
              <a:t>Prompt Context — 當前檢索的 Top-K 先驗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680960" y="3108960"/>
            <a:ext cx="731520" cy="0"/>
          </a:xfrm>
          <a:prstGeom prst="line">
            <a:avLst/>
          </a:prstGeom>
          <a:ln w="31750">
            <a:solidFill>
              <a:srgbClr val="8C9298"/>
            </a:solidFill>
            <a:headEnd type="none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229600" y="2103120"/>
            <a:ext cx="3291840" cy="2651760"/>
          </a:xfrm>
          <a:prstGeom prst="roundRect">
            <a:avLst>
              <a:gd name="adj" fmla="val 6000"/>
            </a:avLst>
          </a:prstGeom>
          <a:solidFill>
            <a:srgbClr val="FBEAE8"/>
          </a:solidFill>
          <a:ln w="12700">
            <a:solidFill>
              <a:srgbClr val="F0C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C4463D"/>
                </a:solidFill>
                <a:latin typeface="Calibri"/>
                <a:ea typeface="Microsoft JhengHei"/>
                <a:cs typeface="Calibri"/>
              </a:rPr>
              <a:t>Research Gap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500" b="1" i="0">
                <a:solidFill>
                  <a:srgbClr val="23272B"/>
                </a:solidFill>
                <a:latin typeface="Calibri"/>
                <a:ea typeface="Microsoft JhengHei"/>
                <a:cs typeface="Calibri"/>
              </a:rPr>
              <a:t>效益的未定之天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50" b="0" i="0">
                <a:solidFill>
                  <a:srgbClr val="465059"/>
                </a:solidFill>
                <a:latin typeface="Calibri"/>
                <a:ea typeface="Microsoft JhengHei"/>
                <a:cs typeface="Calibri"/>
              </a:rPr>
              <a:t>記憶對 Agent 有益，但對「DQN 獎勵設計」是否有絕對助益？</a:t>
            </a:r>
          </a:p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465059"/>
                </a:solidFill>
                <a:latin typeface="Calibri"/>
                <a:ea typeface="Microsoft JhengHei"/>
                <a:cs typeface="Calibri"/>
              </a:rPr>
              <a:t>尤其密集 vs 稀疏環境的差異，至今缺乏嚴謹的 DRL 多任務消融實證。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46480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8C9298"/>
                </a:solidFill>
                <a:latin typeface="Calibri"/>
                <a:ea typeface="Microsoft JhengHei"/>
                <a:cs typeface="Calibri"/>
              </a:rPr>
              <a:t>Hermes-DQN ・ 國立中興大學 資訊管理學研究所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6480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C9298"/>
                </a:solidFill>
                <a:latin typeface="Calibri"/>
                <a:ea typeface="Microsoft JhengHei"/>
                <a:cs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512064"/>
            <a:ext cx="109728" cy="365760"/>
          </a:xfrm>
          <a:prstGeom prst="rect">
            <a:avLst/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57200"/>
            <a:ext cx="8778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00" b="1" i="0">
                <a:solidFill>
                  <a:srgbClr val="23272B"/>
                </a:solidFill>
                <a:latin typeface="Georgia"/>
                <a:ea typeface="Microsoft JhengHei"/>
                <a:cs typeface="Georgia"/>
              </a:rPr>
              <a:t>Pillar 3｜非穩態獎勵與底層穩定性 (Bellman Drift)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84080" y="512064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465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Related Work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170432"/>
            <a:ext cx="11055096" cy="0"/>
          </a:xfrm>
          <a:prstGeom prst="line">
            <a:avLst/>
          </a:prstGeom>
          <a:ln w="12700">
            <a:solidFill>
              <a:srgbClr val="DDE1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40080" y="1508760"/>
            <a:ext cx="4754880" cy="777240"/>
          </a:xfrm>
          <a:prstGeom prst="roundRect">
            <a:avLst>
              <a:gd name="adj" fmla="val 10000"/>
            </a:avLst>
          </a:prstGeom>
          <a:solidFill>
            <a:srgbClr val="EAEDF0"/>
          </a:solidFill>
          <a:ln w="12700">
            <a:solidFill>
              <a:srgbClr val="DD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3272B"/>
                </a:solidFill>
                <a:latin typeface="Calibri"/>
                <a:ea typeface="Microsoft JhengHei"/>
                <a:cs typeface="Calibri"/>
              </a:rPr>
              <a:t>LLM 變更獎勵函數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017520" y="2286000"/>
            <a:ext cx="0" cy="137160"/>
          </a:xfrm>
          <a:prstGeom prst="line">
            <a:avLst/>
          </a:prstGeom>
          <a:ln w="25400">
            <a:solidFill>
              <a:srgbClr val="8C9298"/>
            </a:solidFill>
            <a:headEnd type="none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40080" y="2423160"/>
            <a:ext cx="4754880" cy="777240"/>
          </a:xfrm>
          <a:prstGeom prst="roundRect">
            <a:avLst>
              <a:gd name="adj" fmla="val 10000"/>
            </a:avLst>
          </a:prstGeom>
          <a:solidFill>
            <a:srgbClr val="EAEDF0"/>
          </a:solidFill>
          <a:ln w="12700">
            <a:solidFill>
              <a:srgbClr val="DD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3272B"/>
                </a:solidFill>
                <a:latin typeface="Calibri"/>
                <a:ea typeface="Microsoft JhengHei"/>
                <a:cs typeface="Calibri"/>
              </a:rPr>
              <a:t>目標分佈飄移 (Ng et al., 1999)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017520" y="3200400"/>
            <a:ext cx="0" cy="137160"/>
          </a:xfrm>
          <a:prstGeom prst="line">
            <a:avLst/>
          </a:prstGeom>
          <a:ln w="25400">
            <a:solidFill>
              <a:srgbClr val="8C9298"/>
            </a:solidFill>
            <a:headEnd type="none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40080" y="3337560"/>
            <a:ext cx="4754880" cy="777240"/>
          </a:xfrm>
          <a:prstGeom prst="roundRect">
            <a:avLst>
              <a:gd name="adj" fmla="val 10000"/>
            </a:avLst>
          </a:prstGeom>
          <a:solidFill>
            <a:srgbClr val="EAEDF0"/>
          </a:solidFill>
          <a:ln w="12700">
            <a:solidFill>
              <a:srgbClr val="DD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3272B"/>
                </a:solidFill>
                <a:latin typeface="Calibri"/>
                <a:ea typeface="Microsoft JhengHei"/>
                <a:cs typeface="Calibri"/>
              </a:rPr>
              <a:t>Bellman 算子漂移 / CHAIN 效應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017520" y="4114800"/>
            <a:ext cx="0" cy="137160"/>
          </a:xfrm>
          <a:prstGeom prst="line">
            <a:avLst/>
          </a:prstGeom>
          <a:ln w="25400">
            <a:solidFill>
              <a:srgbClr val="8C9298"/>
            </a:solidFill>
            <a:headEnd type="none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40080" y="4251960"/>
            <a:ext cx="4754880" cy="777240"/>
          </a:xfrm>
          <a:prstGeom prst="roundRect">
            <a:avLst>
              <a:gd name="adj" fmla="val 10000"/>
            </a:avLst>
          </a:prstGeom>
          <a:solidFill>
            <a:srgbClr val="FBEAE8"/>
          </a:solidFill>
          <a:ln w="12700">
            <a:solidFill>
              <a:srgbClr val="F0C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4463D"/>
                </a:solidFill>
                <a:latin typeface="Calibri"/>
                <a:ea typeface="Microsoft JhengHei"/>
                <a:cs typeface="Calibri"/>
              </a:rPr>
              <a:t>歷史樣本失效 (災難性遺忘)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52160" y="1508760"/>
            <a:ext cx="5669280" cy="1417320"/>
          </a:xfrm>
          <a:prstGeom prst="roundRect">
            <a:avLst>
              <a:gd name="adj" fmla="val 6000"/>
            </a:avLst>
          </a:prstGeom>
          <a:solidFill>
            <a:srgbClr val="E9F4EC"/>
          </a:solidFill>
          <a:ln w="12700">
            <a:solidFill>
              <a:srgbClr val="BEE2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2E8B57"/>
                </a:solidFill>
                <a:latin typeface="Calibri"/>
                <a:ea typeface="Microsoft JhengHei"/>
                <a:cs typeface="Calibri"/>
              </a:rPr>
              <a:t>過去解法 (Value-side)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23272B"/>
                </a:solidFill>
                <a:latin typeface="Calibri"/>
                <a:ea typeface="Microsoft JhengHei"/>
                <a:cs typeface="Calibri"/>
              </a:rPr>
              <a:t>GB-DQN (Lee &amp; Lee, 2025)：以梯度增強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3272B"/>
                </a:solidFill>
                <a:latin typeface="Calibri"/>
                <a:ea typeface="Microsoft JhengHei"/>
                <a:cs typeface="Calibri"/>
              </a:rPr>
              <a:t>處理「價值函數面」的遺忘。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52160" y="3154680"/>
            <a:ext cx="5669280" cy="2331720"/>
          </a:xfrm>
          <a:prstGeom prst="roundRect">
            <a:avLst>
              <a:gd name="adj" fmla="val 5000"/>
            </a:avLst>
          </a:prstGeom>
          <a:solidFill>
            <a:srgbClr val="FBF1A9"/>
          </a:solidFill>
          <a:ln w="12700">
            <a:solidFill>
              <a:srgbClr val="E7D4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D99A2B"/>
                </a:solidFill>
                <a:latin typeface="Calibri"/>
                <a:ea typeface="Microsoft JhengHei"/>
                <a:cs typeface="Calibri"/>
              </a:rPr>
              <a:t>Research Gap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1" i="0">
                <a:solidFill>
                  <a:srgbClr val="23272B"/>
                </a:solidFill>
                <a:latin typeface="Calibri"/>
                <a:ea typeface="Microsoft JhengHei"/>
                <a:cs typeface="Calibri"/>
              </a:rPr>
              <a:t>缺乏直接針對「重播緩衝區 (Buffer-side)」的處理。</a:t>
            </a:r>
          </a:p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465059"/>
                </a:solidFill>
                <a:latin typeface="Calibri"/>
                <a:ea typeface="Microsoft JhengHei"/>
                <a:cs typeface="Calibri"/>
              </a:rPr>
              <a:t>→ 需建立一套依「程式碼差異 (AST Diff)」決定樣本保留策略的底層機制，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465059"/>
                </a:solidFill>
                <a:latin typeface="Calibri"/>
                <a:ea typeface="Microsoft JhengHei"/>
                <a:cs typeface="Calibri"/>
              </a:rPr>
              <a:t>與 value-side 工作正交互補。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46480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8C9298"/>
                </a:solidFill>
                <a:latin typeface="Calibri"/>
                <a:ea typeface="Microsoft JhengHei"/>
                <a:cs typeface="Calibri"/>
              </a:rPr>
              <a:t>Hermes-DQN ・ 國立中興大學 資訊管理學研究所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46480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C9298"/>
                </a:solidFill>
                <a:latin typeface="Calibri"/>
                <a:ea typeface="Microsoft JhengHei"/>
                <a:cs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512064"/>
            <a:ext cx="109728" cy="365760"/>
          </a:xfrm>
          <a:prstGeom prst="rect">
            <a:avLst/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57200"/>
            <a:ext cx="8778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00" b="1" i="0">
                <a:solidFill>
                  <a:srgbClr val="23272B"/>
                </a:solidFill>
                <a:latin typeface="Georgia"/>
                <a:ea typeface="Microsoft JhengHei"/>
                <a:cs typeface="Georgia"/>
              </a:rPr>
              <a:t>Synthesis｜Hermes-DQN 的研究定位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75519" y="512064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465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Positioning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170432"/>
            <a:ext cx="11055096" cy="0"/>
          </a:xfrm>
          <a:prstGeom prst="line">
            <a:avLst/>
          </a:prstGeom>
          <a:ln w="12700">
            <a:solidFill>
              <a:srgbClr val="DDE1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2801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8C9298"/>
                </a:solidFill>
                <a:latin typeface="Microsoft JhengHei"/>
                <a:ea typeface="Microsoft JhengHei"/>
                <a:cs typeface="Microsoft JhengHei"/>
              </a:rPr>
              <a:t>文獻缺口 (Limitations)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28016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E8B57"/>
                </a:solidFill>
                <a:latin typeface="Microsoft JhengHei"/>
                <a:ea typeface="Microsoft JhengHei"/>
                <a:cs typeface="Microsoft JhengHei"/>
              </a:rPr>
              <a:t>Hermes-DQN 架構創新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5029200" cy="1051560"/>
          </a:xfrm>
          <a:prstGeom prst="roundRect">
            <a:avLst>
              <a:gd name="adj" fmla="val 8000"/>
            </a:avLst>
          </a:prstGeom>
          <a:solidFill>
            <a:srgbClr val="EAEDF0"/>
          </a:solidFill>
          <a:ln w="12700">
            <a:solidFill>
              <a:srgbClr val="DD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23272B"/>
                </a:solidFill>
                <a:latin typeface="Calibri"/>
                <a:ea typeface="Microsoft JhengHei"/>
                <a:cs typeface="Calibri"/>
              </a:rPr>
              <a:t>依賴閉源 API、無記憶累積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760720" y="2304288"/>
            <a:ext cx="502920" cy="0"/>
          </a:xfrm>
          <a:prstGeom prst="line">
            <a:avLst/>
          </a:prstGeom>
          <a:ln w="31750">
            <a:solidFill>
              <a:srgbClr val="2E8B57"/>
            </a:solidFill>
            <a:headEnd type="none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355080" y="1783080"/>
            <a:ext cx="5166360" cy="1051560"/>
          </a:xfrm>
          <a:prstGeom prst="roundRect">
            <a:avLst>
              <a:gd name="adj" fmla="val 8000"/>
            </a:avLst>
          </a:prstGeom>
          <a:solidFill>
            <a:srgbClr val="E9F4EC"/>
          </a:solidFill>
          <a:ln w="12700">
            <a:solidFill>
              <a:srgbClr val="BEE2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23272B"/>
                </a:solidFill>
                <a:latin typeface="Calibri"/>
                <a:ea typeface="Microsoft JhengHei"/>
                <a:cs typeface="Calibri"/>
              </a:rPr>
              <a:t>開源 LLM 替代 + 導入四層記憶閉環架構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990088"/>
            <a:ext cx="5029200" cy="1051560"/>
          </a:xfrm>
          <a:prstGeom prst="roundRect">
            <a:avLst>
              <a:gd name="adj" fmla="val 8000"/>
            </a:avLst>
          </a:prstGeom>
          <a:solidFill>
            <a:srgbClr val="EAEDF0"/>
          </a:solidFill>
          <a:ln w="12700">
            <a:solidFill>
              <a:srgbClr val="DD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23272B"/>
                </a:solidFill>
                <a:latin typeface="Calibri"/>
                <a:ea typeface="Microsoft JhengHei"/>
                <a:cs typeface="Calibri"/>
              </a:rPr>
              <a:t>DRL 任務中記憶機制缺乏實證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760720" y="3511296"/>
            <a:ext cx="502920" cy="0"/>
          </a:xfrm>
          <a:prstGeom prst="line">
            <a:avLst/>
          </a:prstGeom>
          <a:ln w="31750">
            <a:solidFill>
              <a:srgbClr val="2E8B57"/>
            </a:solidFill>
            <a:headEnd type="none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355080" y="2990088"/>
            <a:ext cx="5166360" cy="1051560"/>
          </a:xfrm>
          <a:prstGeom prst="roundRect">
            <a:avLst>
              <a:gd name="adj" fmla="val 8000"/>
            </a:avLst>
          </a:prstGeom>
          <a:solidFill>
            <a:srgbClr val="E9F4EC"/>
          </a:solidFill>
          <a:ln w="12700">
            <a:solidFill>
              <a:srgbClr val="BEE2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23272B"/>
                </a:solidFill>
                <a:latin typeface="Calibri"/>
                <a:ea typeface="Microsoft JhengHei"/>
                <a:cs typeface="Calibri"/>
              </a:rPr>
              <a:t>首度發現記憶在密集環境的負向效應 (p=0.0317)，並以 DQN 變體驗證模型無關性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197096"/>
            <a:ext cx="5029200" cy="1051560"/>
          </a:xfrm>
          <a:prstGeom prst="roundRect">
            <a:avLst>
              <a:gd name="adj" fmla="val 8000"/>
            </a:avLst>
          </a:prstGeom>
          <a:solidFill>
            <a:srgbClr val="EAEDF0"/>
          </a:solidFill>
          <a:ln w="12700">
            <a:solidFill>
              <a:srgbClr val="DD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23272B"/>
                </a:solidFill>
                <a:latin typeface="Calibri"/>
                <a:ea typeface="Microsoft JhengHei"/>
                <a:cs typeface="Calibri"/>
              </a:rPr>
              <a:t>緩衝區樣本遺忘問題未解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760720" y="4718304"/>
            <a:ext cx="502920" cy="0"/>
          </a:xfrm>
          <a:prstGeom prst="line">
            <a:avLst/>
          </a:prstGeom>
          <a:ln w="31750">
            <a:solidFill>
              <a:srgbClr val="2E8B57"/>
            </a:solidFill>
            <a:headEnd type="none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355080" y="4197096"/>
            <a:ext cx="5166360" cy="1051560"/>
          </a:xfrm>
          <a:prstGeom prst="roundRect">
            <a:avLst>
              <a:gd name="adj" fmla="val 8000"/>
            </a:avLst>
          </a:prstGeom>
          <a:solidFill>
            <a:srgbClr val="E9F4EC"/>
          </a:solidFill>
          <a:ln w="12700">
            <a:solidFill>
              <a:srgbClr val="BEE2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23272B"/>
                </a:solidFill>
                <a:latin typeface="Calibri"/>
                <a:ea typeface="Microsoft JhengHei"/>
                <a:cs typeface="Calibri"/>
              </a:rPr>
              <a:t>獨創 AST 感知重播緩衝管理，依結構差異執行 KEEP / PARTIAL / DECAY / CLEAR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440680"/>
            <a:ext cx="10881360" cy="640080"/>
          </a:xfrm>
          <a:prstGeom prst="roundRect">
            <a:avLst>
              <a:gd name="adj" fmla="val 10000"/>
            </a:avLst>
          </a:prstGeom>
          <a:solidFill>
            <a:srgbClr val="232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Hermes-DQN 整合三大領域，建立開源自動化獎勵設計的研究基準。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46480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8C9298"/>
                </a:solidFill>
                <a:latin typeface="Calibri"/>
                <a:ea typeface="Microsoft JhengHei"/>
                <a:cs typeface="Calibri"/>
              </a:rPr>
              <a:t>Hermes-DQN ・ 國立中興大學 資訊管理學研究所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46480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C9298"/>
                </a:solidFill>
                <a:latin typeface="Calibri"/>
                <a:ea typeface="Microsoft JhengHei"/>
                <a:cs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188720"/>
            <a:ext cx="3291840" cy="4206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0" b="1" i="0">
                <a:solidFill>
                  <a:srgbClr val="EAEDF0"/>
                </a:solidFill>
                <a:latin typeface="Georgia"/>
                <a:ea typeface="Georgia"/>
                <a:cs typeface="Georgia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0" y="2468880"/>
            <a:ext cx="8229600" cy="10058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5000" b="0" i="0">
                <a:solidFill>
                  <a:srgbClr val="23272B"/>
                </a:solidFill>
                <a:latin typeface="Georgia"/>
                <a:ea typeface="Microsoft JhengHei"/>
                <a:cs typeface="Georgia"/>
              </a:rPr>
              <a:t>Proposed Scheme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46704" y="3611880"/>
            <a:ext cx="8229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465059"/>
                </a:solidFill>
                <a:latin typeface="Microsoft JhengHei"/>
                <a:ea typeface="Microsoft JhengHei"/>
                <a:cs typeface="Microsoft JhengHei"/>
              </a:rPr>
              <a:t>Hermes-DQN 系統架構</a:t>
            </a:r>
          </a:p>
        </p:txBody>
      </p:sp>
      <p:sp>
        <p:nvSpPr>
          <p:cNvPr id="5" name="Rectangle 4"/>
          <p:cNvSpPr/>
          <p:nvPr/>
        </p:nvSpPr>
        <p:spPr>
          <a:xfrm>
            <a:off x="3346704" y="3456432"/>
            <a:ext cx="1280160" cy="36576"/>
          </a:xfrm>
          <a:prstGeom prst="rect">
            <a:avLst/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512064"/>
            <a:ext cx="109728" cy="365760"/>
          </a:xfrm>
          <a:prstGeom prst="rect">
            <a:avLst/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57200"/>
            <a:ext cx="8778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00" b="1" i="0">
                <a:solidFill>
                  <a:srgbClr val="23272B"/>
                </a:solidFill>
                <a:latin typeface="Georgia"/>
                <a:ea typeface="Microsoft JhengHei"/>
                <a:cs typeface="Georgia"/>
              </a:rPr>
              <a:t>系統架構資料流 (The Big Picture)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75519" y="512064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465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Architecture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170432"/>
            <a:ext cx="11055096" cy="0"/>
          </a:xfrm>
          <a:prstGeom prst="line">
            <a:avLst/>
          </a:prstGeom>
          <a:ln w="12700">
            <a:solidFill>
              <a:srgbClr val="DDE1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658368" y="1435607"/>
            <a:ext cx="146304" cy="146304"/>
          </a:xfrm>
          <a:prstGeom prst="ellipse">
            <a:avLst/>
          </a:prstGeom>
          <a:solidFill>
            <a:srgbClr val="3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371600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465059"/>
                </a:solidFill>
                <a:latin typeface="Microsoft JhengHei"/>
                <a:ea typeface="Microsoft JhengHei"/>
                <a:cs typeface="Microsoft JhengHei"/>
              </a:rPr>
              <a:t>子系統一：跨迭代學習能力</a:t>
            </a:r>
          </a:p>
        </p:txBody>
      </p:sp>
      <p:sp>
        <p:nvSpPr>
          <p:cNvPr id="8" name="Oval 7"/>
          <p:cNvSpPr/>
          <p:nvPr/>
        </p:nvSpPr>
        <p:spPr>
          <a:xfrm>
            <a:off x="4361688" y="1435607"/>
            <a:ext cx="146304" cy="146304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9432" y="1371600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465059"/>
                </a:solidFill>
                <a:latin typeface="Microsoft JhengHei"/>
                <a:ea typeface="Microsoft JhengHei"/>
                <a:cs typeface="Microsoft JhengHei"/>
              </a:rPr>
              <a:t>子系統二：開源且可重現的獎勵引擎</a:t>
            </a:r>
          </a:p>
        </p:txBody>
      </p:sp>
      <p:sp>
        <p:nvSpPr>
          <p:cNvPr id="10" name="Oval 9"/>
          <p:cNvSpPr/>
          <p:nvPr/>
        </p:nvSpPr>
        <p:spPr>
          <a:xfrm>
            <a:off x="8065008" y="1435607"/>
            <a:ext cx="146304" cy="146304"/>
          </a:xfrm>
          <a:prstGeom prst="ellipse">
            <a:avLst/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02752" y="1371600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465059"/>
                </a:solidFill>
                <a:latin typeface="Microsoft JhengHei"/>
                <a:ea typeface="Microsoft JhengHei"/>
                <a:cs typeface="Microsoft JhengHei"/>
              </a:rPr>
              <a:t>子系統三：抑制漂移與災難性遺忘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468880"/>
            <a:ext cx="1874519" cy="173736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C6D9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3F6FA8"/>
                </a:solidFill>
                <a:latin typeface="Calibri"/>
                <a:ea typeface="Microsoft JhengHei"/>
                <a:cs typeface="Calibri"/>
              </a:rPr>
              <a:t>Long-term
Memory</a:t>
            </a:r>
          </a:p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465059"/>
                </a:solidFill>
                <a:latin typeface="Calibri"/>
                <a:ea typeface="Microsoft JhengHei"/>
                <a:cs typeface="Calibri"/>
              </a:rPr>
              <a:t>SQLite FTS5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88920" y="2468880"/>
            <a:ext cx="1874519" cy="1737360"/>
          </a:xfrm>
          <a:prstGeom prst="roundRect">
            <a:avLst>
              <a:gd name="adj" fmla="val 8000"/>
            </a:avLst>
          </a:prstGeom>
          <a:solidFill>
            <a:srgbClr val="E9F4EC"/>
          </a:solidFill>
          <a:ln w="15875">
            <a:solidFill>
              <a:srgbClr val="BEE2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E8B57"/>
                </a:solidFill>
                <a:latin typeface="Calibri"/>
                <a:ea typeface="Microsoft JhengHei"/>
                <a:cs typeface="Calibri"/>
              </a:rPr>
              <a:t>開源 LLM</a:t>
            </a:r>
          </a:p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465059"/>
                </a:solidFill>
                <a:latin typeface="Calibri"/>
                <a:ea typeface="Microsoft JhengHei"/>
                <a:cs typeface="Calibri"/>
              </a:rPr>
              <a:t>reward author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74920" y="2468880"/>
            <a:ext cx="1874519" cy="1737360"/>
          </a:xfrm>
          <a:prstGeom prst="roundRect">
            <a:avLst>
              <a:gd name="adj" fmla="val 8000"/>
            </a:avLst>
          </a:prstGeom>
          <a:solidFill>
            <a:srgbClr val="FBF1A9"/>
          </a:solidFill>
          <a:ln w="15875">
            <a:solidFill>
              <a:srgbClr val="E7D4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D99A2B"/>
                </a:solidFill>
                <a:latin typeface="Calibri"/>
                <a:ea typeface="Microsoft JhengHei"/>
                <a:cs typeface="Calibri"/>
              </a:rPr>
              <a:t>AST diff
+ Buffer</a:t>
            </a:r>
          </a:p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465059"/>
                </a:solidFill>
                <a:latin typeface="Calibri"/>
                <a:ea typeface="Microsoft JhengHei"/>
                <a:cs typeface="Calibri"/>
              </a:rPr>
              <a:t>KEEP/PARTIAL/
DECAY/CLEAR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60920" y="2468880"/>
            <a:ext cx="1874519" cy="1737360"/>
          </a:xfrm>
          <a:prstGeom prst="roundRect">
            <a:avLst>
              <a:gd name="adj" fmla="val 8000"/>
            </a:avLst>
          </a:prstGeom>
          <a:solidFill>
            <a:srgbClr val="FBECEF"/>
          </a:solidFill>
          <a:ln w="15875">
            <a:solidFill>
              <a:srgbClr val="F0C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C25B6B"/>
                </a:solidFill>
                <a:latin typeface="Calibri"/>
                <a:ea typeface="Microsoft JhengHei"/>
                <a:cs typeface="Calibri"/>
              </a:rPr>
              <a:t>DQN Agent</a:t>
            </a:r>
          </a:p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465059"/>
                </a:solidFill>
                <a:latin typeface="Calibri"/>
                <a:ea typeface="Microsoft JhengHei"/>
                <a:cs typeface="Calibri"/>
              </a:rPr>
              <a:t>Q-net 64×64 MLP</a:t>
            </a:r>
          </a:p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465059"/>
                </a:solidFill>
                <a:latin typeface="Calibri"/>
                <a:ea typeface="Microsoft JhengHei"/>
                <a:cs typeface="Calibri"/>
              </a:rPr>
              <a:t>Target net (lagged)</a:t>
            </a:r>
          </a:p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465059"/>
                </a:solidFill>
                <a:latin typeface="Calibri"/>
                <a:ea typeface="Microsoft JhengHei"/>
                <a:cs typeface="Calibri"/>
              </a:rPr>
              <a:t>Replay 100K · ε1.0→0.01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46920" y="2468880"/>
            <a:ext cx="1874519" cy="1737360"/>
          </a:xfrm>
          <a:prstGeom prst="roundRect">
            <a:avLst>
              <a:gd name="adj" fmla="val 8000"/>
            </a:avLst>
          </a:prstGeom>
          <a:solidFill>
            <a:srgbClr val="EAEDF0"/>
          </a:solidFill>
          <a:ln w="15875">
            <a:solidFill>
              <a:srgbClr val="DD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465059"/>
                </a:solidFill>
                <a:latin typeface="Calibri"/>
                <a:ea typeface="Microsoft JhengHei"/>
                <a:cs typeface="Calibri"/>
              </a:rPr>
              <a:t>Env-native
Eval</a:t>
            </a:r>
          </a:p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465059"/>
                </a:solidFill>
                <a:latin typeface="Calibri"/>
                <a:ea typeface="Microsoft JhengHei"/>
                <a:cs typeface="Calibri"/>
              </a:rPr>
              <a:t>100 unseen seeds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377439" y="3337560"/>
            <a:ext cx="411481" cy="0"/>
          </a:xfrm>
          <a:prstGeom prst="line">
            <a:avLst/>
          </a:prstGeom>
          <a:ln w="25400">
            <a:solidFill>
              <a:srgbClr val="8C9298"/>
            </a:solidFill>
            <a:headEnd type="none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240279" y="2176272"/>
            <a:ext cx="18745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8C9298"/>
                </a:solidFill>
                <a:latin typeface="Calibri"/>
                <a:ea typeface="Microsoft JhengHei"/>
                <a:cs typeface="Calibri"/>
              </a:rPr>
              <a:t>(1) priors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663440" y="3337560"/>
            <a:ext cx="411480" cy="0"/>
          </a:xfrm>
          <a:prstGeom prst="line">
            <a:avLst/>
          </a:prstGeom>
          <a:ln w="25400">
            <a:solidFill>
              <a:srgbClr val="8C9298"/>
            </a:solidFill>
            <a:headEnd type="none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526279" y="2176272"/>
            <a:ext cx="18745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8C9298"/>
                </a:solidFill>
                <a:latin typeface="Calibri"/>
                <a:ea typeface="Microsoft JhengHei"/>
                <a:cs typeface="Calibri"/>
              </a:rPr>
              <a:t>(2) reward.py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949440" y="3337560"/>
            <a:ext cx="411479" cy="0"/>
          </a:xfrm>
          <a:prstGeom prst="line">
            <a:avLst/>
          </a:prstGeom>
          <a:ln w="25400">
            <a:solidFill>
              <a:srgbClr val="8C9298"/>
            </a:solidFill>
            <a:headEnd type="none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812279" y="2176272"/>
            <a:ext cx="18745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8C9298"/>
                </a:solidFill>
                <a:latin typeface="Calibri"/>
                <a:ea typeface="Microsoft JhengHei"/>
                <a:cs typeface="Calibri"/>
              </a:rPr>
              <a:t>(3) buffer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235440" y="3337560"/>
            <a:ext cx="411480" cy="0"/>
          </a:xfrm>
          <a:prstGeom prst="line">
            <a:avLst/>
          </a:prstGeom>
          <a:ln w="25400">
            <a:solidFill>
              <a:srgbClr val="8C9298"/>
            </a:solidFill>
            <a:headEnd type="none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9098280" y="2176272"/>
            <a:ext cx="18745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8C9298"/>
                </a:solidFill>
                <a:latin typeface="Calibri"/>
                <a:ea typeface="Microsoft JhengHei"/>
                <a:cs typeface="Calibri"/>
              </a:rPr>
              <a:t>(4) model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0584180" y="4206240"/>
            <a:ext cx="0" cy="502919"/>
          </a:xfrm>
          <a:prstGeom prst="line">
            <a:avLst/>
          </a:prstGeom>
          <a:ln w="25400">
            <a:solidFill>
              <a:srgbClr val="8C929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1440180" y="4709159"/>
            <a:ext cx="9144000" cy="0"/>
          </a:xfrm>
          <a:prstGeom prst="line">
            <a:avLst/>
          </a:prstGeom>
          <a:ln w="25400">
            <a:solidFill>
              <a:srgbClr val="8C9298"/>
            </a:solidFill>
            <a:headEnd type="none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1440180" y="4206240"/>
            <a:ext cx="0" cy="502919"/>
          </a:xfrm>
          <a:prstGeom prst="line">
            <a:avLst/>
          </a:prstGeom>
          <a:ln w="25400">
            <a:solidFill>
              <a:srgbClr val="8C929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2651760" y="4690872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8C9298"/>
                </a:solidFill>
                <a:latin typeface="Calibri"/>
                <a:ea typeface="Microsoft JhengHei"/>
                <a:cs typeface="Calibri"/>
              </a:rPr>
              <a:t>(5) fitness writeback — 閉環迴路（每組環境/條件/種子重複 5 次）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646480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8C9298"/>
                </a:solidFill>
                <a:latin typeface="Calibri"/>
                <a:ea typeface="Microsoft JhengHei"/>
                <a:cs typeface="Calibri"/>
              </a:rPr>
              <a:t>Hermes-DQN ・ 國立中興大學 資訊管理學研究所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89920" y="646480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C9298"/>
                </a:solidFill>
                <a:latin typeface="Calibri"/>
                <a:ea typeface="Microsoft JhengHei"/>
                <a:cs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512064"/>
            <a:ext cx="109728" cy="365760"/>
          </a:xfrm>
          <a:prstGeom prst="rect">
            <a:avLst/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57200"/>
            <a:ext cx="8778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00" b="1" i="0">
                <a:solidFill>
                  <a:srgbClr val="23272B"/>
                </a:solidFill>
                <a:latin typeface="Georgia"/>
                <a:ea typeface="Microsoft JhengHei"/>
                <a:cs typeface="Georgia"/>
              </a:rPr>
              <a:t>7 步驟迭代閉環：系統運轉引擎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75519" y="512064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465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Closed Loop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170432"/>
            <a:ext cx="11055096" cy="0"/>
          </a:xfrm>
          <a:prstGeom prst="line">
            <a:avLst/>
          </a:prstGeom>
          <a:ln w="12700">
            <a:solidFill>
              <a:srgbClr val="DDE1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40080" y="1554480"/>
            <a:ext cx="24688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D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3272B"/>
                </a:solidFill>
                <a:latin typeface="Calibri"/>
                <a:ea typeface="Microsoft JhengHei"/>
                <a:cs typeface="Calibri"/>
              </a:rPr>
              <a:t>1 檢索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465059"/>
                </a:solidFill>
                <a:latin typeface="Calibri"/>
                <a:ea typeface="Microsoft JhengHei"/>
                <a:cs typeface="Calibri"/>
              </a:rPr>
              <a:t>memory.top_k_by_fitness()
取前 5 筆最佳歷史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7560" y="1554480"/>
            <a:ext cx="24688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D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3272B"/>
                </a:solidFill>
                <a:latin typeface="Calibri"/>
                <a:ea typeface="Microsoft JhengHei"/>
                <a:cs typeface="Calibri"/>
              </a:rPr>
              <a:t>2 生成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465059"/>
                </a:solidFill>
                <a:latin typeface="Calibri"/>
                <a:ea typeface="Microsoft JhengHei"/>
                <a:cs typeface="Calibri"/>
              </a:rPr>
              <a:t>LLM 接任務規格 + 先驗
生成 reward_src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554480"/>
            <a:ext cx="24688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D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3272B"/>
                </a:solidFill>
                <a:latin typeface="Calibri"/>
                <a:ea typeface="Microsoft JhengHei"/>
                <a:cs typeface="Calibri"/>
              </a:rPr>
              <a:t>3 差異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465059"/>
                </a:solidFill>
                <a:latin typeface="Calibri"/>
                <a:ea typeface="Microsoft JhengHei"/>
                <a:cs typeface="Calibri"/>
              </a:rPr>
              <a:t>解析新舊規格之
AST 差異程度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32520" y="1554480"/>
            <a:ext cx="24688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D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3272B"/>
                </a:solidFill>
                <a:latin typeface="Calibri"/>
                <a:ea typeface="Microsoft JhengHei"/>
                <a:cs typeface="Calibri"/>
              </a:rPr>
              <a:t>4 緩衝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465059"/>
                </a:solidFill>
                <a:latin typeface="Calibri"/>
                <a:ea typeface="Microsoft JhengHei"/>
                <a:cs typeface="Calibri"/>
              </a:rPr>
              <a:t>依差異決定保留
或清空 prev_buffer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32520" y="3703320"/>
            <a:ext cx="24688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D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3272B"/>
                </a:solidFill>
                <a:latin typeface="Calibri"/>
                <a:ea typeface="Microsoft JhengHei"/>
                <a:cs typeface="Calibri"/>
              </a:rPr>
              <a:t>5 訓練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465059"/>
                </a:solidFill>
                <a:latin typeface="Calibri"/>
                <a:ea typeface="Microsoft JhengHei"/>
                <a:cs typeface="Calibri"/>
              </a:rPr>
              <a:t>DQN 執行 N 輪
episodes 訓練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3703320"/>
            <a:ext cx="2468880" cy="1417320"/>
          </a:xfrm>
          <a:prstGeom prst="roundRect">
            <a:avLst>
              <a:gd name="adj" fmla="val 8000"/>
            </a:avLst>
          </a:prstGeom>
          <a:solidFill>
            <a:srgbClr val="E9F4EC"/>
          </a:solidFill>
          <a:ln w="15875">
            <a:solidFill>
              <a:srgbClr val="BEE2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E8B57"/>
                </a:solidFill>
                <a:latin typeface="Calibri"/>
                <a:ea typeface="Microsoft JhengHei"/>
                <a:cs typeface="Calibri"/>
              </a:rPr>
              <a:t>6 評估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465059"/>
                </a:solidFill>
                <a:latin typeface="Calibri"/>
                <a:ea typeface="Microsoft JhengHei"/>
                <a:cs typeface="Calibri"/>
              </a:rPr>
              <a:t>100 個未見種子
原生獎勵公平評估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3703320"/>
            <a:ext cx="24688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D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3272B"/>
                </a:solidFill>
                <a:latin typeface="Calibri"/>
                <a:ea typeface="Microsoft JhengHei"/>
                <a:cs typeface="Calibri"/>
              </a:rPr>
              <a:t>7 寫回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465059"/>
                </a:solidFill>
                <a:latin typeface="Calibri"/>
                <a:ea typeface="Microsoft JhengHei"/>
                <a:cs typeface="Calibri"/>
              </a:rPr>
              <a:t>(原始碼, 適應度)
寫回記憶體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108960" y="2258568"/>
            <a:ext cx="228600" cy="0"/>
          </a:xfrm>
          <a:prstGeom prst="line">
            <a:avLst/>
          </a:prstGeom>
          <a:ln w="28575">
            <a:solidFill>
              <a:srgbClr val="8C9298"/>
            </a:solidFill>
            <a:headEnd type="none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806440" y="2258568"/>
            <a:ext cx="228600" cy="0"/>
          </a:xfrm>
          <a:prstGeom prst="line">
            <a:avLst/>
          </a:prstGeom>
          <a:ln w="28575">
            <a:solidFill>
              <a:srgbClr val="8C9298"/>
            </a:solidFill>
            <a:headEnd type="none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503920" y="2258568"/>
            <a:ext cx="228600" cy="0"/>
          </a:xfrm>
          <a:prstGeom prst="line">
            <a:avLst/>
          </a:prstGeom>
          <a:ln w="28575">
            <a:solidFill>
              <a:srgbClr val="8C9298"/>
            </a:solidFill>
            <a:headEnd type="none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966960" y="2971800"/>
            <a:ext cx="0" cy="731520"/>
          </a:xfrm>
          <a:prstGeom prst="line">
            <a:avLst/>
          </a:prstGeom>
          <a:ln w="28575">
            <a:solidFill>
              <a:srgbClr val="8C9298"/>
            </a:solidFill>
            <a:headEnd type="none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8503920" y="4407408"/>
            <a:ext cx="228600" cy="0"/>
          </a:xfrm>
          <a:prstGeom prst="line">
            <a:avLst/>
          </a:prstGeom>
          <a:ln w="28575">
            <a:solidFill>
              <a:srgbClr val="8C9298"/>
            </a:solidFill>
            <a:headEnd type="none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5806440" y="4407408"/>
            <a:ext cx="228600" cy="0"/>
          </a:xfrm>
          <a:prstGeom prst="line">
            <a:avLst/>
          </a:prstGeom>
          <a:ln w="28575">
            <a:solidFill>
              <a:srgbClr val="8C9298"/>
            </a:solidFill>
            <a:headEnd type="none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3108960" y="4407408"/>
            <a:ext cx="228600" cy="0"/>
          </a:xfrm>
          <a:prstGeom prst="line">
            <a:avLst/>
          </a:prstGeom>
          <a:ln w="28575">
            <a:solidFill>
              <a:srgbClr val="8C9298"/>
            </a:solidFill>
            <a:headEnd type="none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 rot="21480000">
            <a:off x="640080" y="3703320"/>
            <a:ext cx="2468880" cy="1417320"/>
          </a:xfrm>
          <a:prstGeom prst="rect">
            <a:avLst/>
          </a:prstGeom>
          <a:solidFill>
            <a:srgbClr val="FBF1A9"/>
          </a:solidFill>
          <a:ln w="9525">
            <a:solidFill>
              <a:srgbClr val="E7D4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01600" bIns="101600"/>
          <a:lstStyle/>
          <a:p>
            <a:pPr algn="l">
              <a:lnSpc>
                <a:spcPct val="108000"/>
              </a:lnSpc>
            </a:pPr>
            <a:r>
              <a:rPr sz="1100" b="1" i="0">
                <a:solidFill>
                  <a:srgbClr val="D99A2B"/>
                </a:solidFill>
                <a:latin typeface="Calibri"/>
                <a:ea typeface="Microsoft JhengHei"/>
                <a:cs typeface="Calibri"/>
              </a:rPr>
              <a:t>關鍵設計</a:t>
            </a:r>
          </a:p>
          <a:p>
            <a:pPr algn="l">
              <a:lnSpc>
                <a:spcPct val="108000"/>
              </a:lnSpc>
            </a:pPr>
            <a:r>
              <a:rPr sz="1100" b="0" i="0">
                <a:solidFill>
                  <a:srgbClr val="23272B"/>
                </a:solidFill>
                <a:latin typeface="Calibri"/>
                <a:ea typeface="Microsoft JhengHei"/>
                <a:cs typeface="Calibri"/>
              </a:rPr>
              <a:t>第 6 步固定用 100 個</a:t>
            </a:r>
          </a:p>
          <a:p>
            <a:pPr algn="l">
              <a:lnSpc>
                <a:spcPct val="108000"/>
              </a:lnSpc>
            </a:pPr>
            <a:r>
              <a:rPr sz="1100" b="0" i="0">
                <a:solidFill>
                  <a:srgbClr val="23272B"/>
                </a:solidFill>
                <a:latin typeface="Calibri"/>
                <a:ea typeface="Microsoft JhengHei"/>
                <a:cs typeface="Calibri"/>
              </a:rPr>
              <a:t>未見種子 + 原生獎勵，</a:t>
            </a:r>
          </a:p>
          <a:p>
            <a:pPr algn="l">
              <a:lnSpc>
                <a:spcPct val="108000"/>
              </a:lnSpc>
            </a:pPr>
            <a:r>
              <a:rPr sz="1100" b="1" i="0">
                <a:solidFill>
                  <a:srgbClr val="23272B"/>
                </a:solidFill>
                <a:latin typeface="Calibri"/>
                <a:ea typeface="Microsoft JhengHei"/>
                <a:cs typeface="Calibri"/>
              </a:rPr>
              <a:t>是跨條件唯一公平基準。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46480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8C9298"/>
                </a:solidFill>
                <a:latin typeface="Calibri"/>
                <a:ea typeface="Microsoft JhengHei"/>
                <a:cs typeface="Calibri"/>
              </a:rPr>
              <a:t>Hermes-DQN ・ 國立中興大學 資訊管理學研究所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0" y="646480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C9298"/>
                </a:solidFill>
                <a:latin typeface="Calibri"/>
                <a:ea typeface="Microsoft JhengHei"/>
                <a:cs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512064"/>
            <a:ext cx="109728" cy="365760"/>
          </a:xfrm>
          <a:prstGeom prst="rect">
            <a:avLst/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57200"/>
            <a:ext cx="8778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00" b="1" i="0">
                <a:solidFill>
                  <a:srgbClr val="23272B"/>
                </a:solidFill>
                <a:latin typeface="Georgia"/>
                <a:ea typeface="Microsoft JhengHei"/>
                <a:cs typeface="Georgia"/>
              </a:rPr>
              <a:t>放大檢視 I：Hermes 四層記憶架構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66959" y="512064"/>
            <a:ext cx="1645920" cy="329184"/>
          </a:xfrm>
          <a:prstGeom prst="roundRect">
            <a:avLst>
              <a:gd name="adj" fmla="val 50000"/>
            </a:avLst>
          </a:prstGeom>
          <a:solidFill>
            <a:srgbClr val="3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Zoom-in I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170432"/>
            <a:ext cx="11055096" cy="0"/>
          </a:xfrm>
          <a:prstGeom prst="line">
            <a:avLst/>
          </a:prstGeom>
          <a:ln w="12700">
            <a:solidFill>
              <a:srgbClr val="DDE1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40080" y="1554480"/>
            <a:ext cx="4114800" cy="91440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2700">
            <a:solidFill>
              <a:srgbClr val="C6D9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3F6FA8"/>
                </a:solidFill>
                <a:latin typeface="Calibri"/>
                <a:ea typeface="Microsoft JhengHei"/>
                <a:cs typeface="Calibri"/>
              </a:rPr>
              <a:t>Working Memory</a:t>
            </a:r>
          </a:p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465059"/>
                </a:solidFill>
                <a:latin typeface="Calibri"/>
                <a:ea typeface="Microsoft JhengHei"/>
                <a:cs typeface="Calibri"/>
              </a:rPr>
              <a:t>作用中記憶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83480" y="1600200"/>
            <a:ext cx="393192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23272B"/>
                </a:solidFill>
                <a:latin typeface="Microsoft JhengHei"/>
                <a:ea typeface="Microsoft JhengHei"/>
                <a:cs typeface="Microsoft JhengHei"/>
              </a:rPr>
              <a:t>Prompt Context（本輪檢索出的 top-K 先驗）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33472"/>
            <a:ext cx="4114800" cy="91440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2700">
            <a:solidFill>
              <a:srgbClr val="C6D9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3F6FA8"/>
                </a:solidFill>
                <a:latin typeface="Calibri"/>
                <a:ea typeface="Microsoft JhengHei"/>
                <a:cs typeface="Calibri"/>
              </a:rPr>
              <a:t>Episodic Memory</a:t>
            </a:r>
          </a:p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465059"/>
                </a:solidFill>
                <a:latin typeface="Calibri"/>
                <a:ea typeface="Microsoft JhengHei"/>
                <a:cs typeface="Calibri"/>
              </a:rPr>
              <a:t>情節記憶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83480" y="2679191"/>
            <a:ext cx="393192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23272B"/>
                </a:solidFill>
                <a:latin typeface="Microsoft JhengHei"/>
                <a:ea typeface="Microsoft JhengHei"/>
                <a:cs typeface="Microsoft JhengHei"/>
              </a:rPr>
              <a:t>SQLite FTS5（Fitness 指標、獎勵原始碼、差異分類）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712463"/>
            <a:ext cx="4114800" cy="91440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2700">
            <a:solidFill>
              <a:srgbClr val="C6D9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3F6FA8"/>
                </a:solidFill>
                <a:latin typeface="Calibri"/>
                <a:ea typeface="Microsoft JhengHei"/>
                <a:cs typeface="Calibri"/>
              </a:rPr>
              <a:t>Semantic Memory</a:t>
            </a:r>
          </a:p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465059"/>
                </a:solidFill>
                <a:latin typeface="Calibri"/>
                <a:ea typeface="Microsoft JhengHei"/>
                <a:cs typeface="Calibri"/>
              </a:rPr>
              <a:t>語義記憶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83480" y="3758183"/>
            <a:ext cx="393192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23272B"/>
                </a:solidFill>
                <a:latin typeface="Microsoft JhengHei"/>
                <a:ea typeface="Microsoft JhengHei"/>
                <a:cs typeface="Microsoft JhengHei"/>
              </a:rPr>
              <a:t>MEMORY.md（長期成功 / 失敗教訓）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791455"/>
            <a:ext cx="4114800" cy="91440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2700">
            <a:solidFill>
              <a:srgbClr val="C6D9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3F6FA8"/>
                </a:solidFill>
                <a:latin typeface="Calibri"/>
                <a:ea typeface="Microsoft JhengHei"/>
                <a:cs typeface="Calibri"/>
              </a:rPr>
              <a:t>Procedural Memory</a:t>
            </a:r>
          </a:p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465059"/>
                </a:solidFill>
                <a:latin typeface="Calibri"/>
                <a:ea typeface="Microsoft JhengHei"/>
                <a:cs typeface="Calibri"/>
              </a:rPr>
              <a:t>程序記憶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83480" y="4837175"/>
            <a:ext cx="393192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23272B"/>
                </a:solidFill>
                <a:latin typeface="Microsoft JhengHei"/>
                <a:ea typeface="Microsoft JhengHei"/>
                <a:cs typeface="Microsoft JhengHei"/>
              </a:rPr>
              <a:t>SKILL.md（固化操作規則，如要求純函數）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1737360"/>
            <a:ext cx="2377440" cy="2194560"/>
          </a:xfrm>
          <a:prstGeom prst="roundRect">
            <a:avLst>
              <a:gd name="adj" fmla="val 6000"/>
            </a:avLst>
          </a:prstGeom>
          <a:solidFill>
            <a:srgbClr val="EAEDF0"/>
          </a:solidFill>
          <a:ln w="12700">
            <a:solidFill>
              <a:srgbClr val="DD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23272B"/>
                </a:solidFill>
                <a:latin typeface="Calibri"/>
                <a:ea typeface="Microsoft JhengHei"/>
                <a:cs typeface="Calibri"/>
              </a:rPr>
              <a:t>檢索漏斗</a:t>
            </a:r>
          </a:p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1000" b="0" i="0">
                <a:solidFill>
                  <a:srgbClr val="8C9298"/>
                </a:solidFill>
                <a:latin typeface="Calibri"/>
                <a:ea typeface="Microsoft JhengHei"/>
                <a:cs typeface="Calibri"/>
              </a:rPr>
              <a:t>Retrieval Funnel</a:t>
            </a:r>
          </a:p>
          <a:p>
            <a:pPr algn="ctr">
              <a:lnSpc>
                <a:spcPct val="120000"/>
              </a:lnSpc>
            </a:pPr>
            <a:r>
              <a:rPr sz="1150" b="0" i="0">
                <a:solidFill>
                  <a:srgbClr val="465059"/>
                </a:solidFill>
                <a:latin typeface="Calibri"/>
                <a:ea typeface="Microsoft JhengHei"/>
                <a:cs typeface="Calibri"/>
              </a:rPr>
              <a:t>查詢鍵 =</a:t>
            </a:r>
          </a:p>
          <a:p>
            <a:pPr algn="ctr">
              <a:lnSpc>
                <a:spcPct val="120000"/>
              </a:lnSpc>
            </a:pPr>
            <a:r>
              <a:rPr sz="1150" b="0" i="0">
                <a:solidFill>
                  <a:srgbClr val="465059"/>
                </a:solidFill>
                <a:latin typeface="Calibri"/>
                <a:ea typeface="Microsoft JhengHei"/>
                <a:cs typeface="Calibri"/>
              </a:rPr>
              <a:t>環境名稱 + 上一輪</a:t>
            </a:r>
          </a:p>
          <a:p>
            <a:pPr algn="ctr">
              <a:lnSpc>
                <a:spcPct val="120000"/>
              </a:lnSpc>
            </a:pPr>
            <a:r>
              <a:rPr sz="1150" b="0" i="0">
                <a:solidFill>
                  <a:srgbClr val="465059"/>
                </a:solidFill>
                <a:latin typeface="Calibri"/>
                <a:ea typeface="Microsoft JhengHei"/>
                <a:cs typeface="Calibri"/>
              </a:rPr>
              <a:t>Fitness 指標</a:t>
            </a:r>
          </a:p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3F6FA8"/>
                </a:solidFill>
                <a:latin typeface="Calibri"/>
                <a:ea typeface="Microsoft JhengHei"/>
                <a:cs typeface="Calibri"/>
              </a:rPr>
              <a:t>→ 取 Top-K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46480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8C9298"/>
                </a:solidFill>
                <a:latin typeface="Calibri"/>
                <a:ea typeface="Microsoft JhengHei"/>
                <a:cs typeface="Calibri"/>
              </a:rPr>
              <a:t>Hermes-DQN ・ 國立中興大學 資訊管理學研究所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46480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C9298"/>
                </a:solidFill>
                <a:latin typeface="Calibri"/>
                <a:ea typeface="Microsoft JhengHei"/>
                <a:cs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512064"/>
            <a:ext cx="109728" cy="365760"/>
          </a:xfrm>
          <a:prstGeom prst="rect">
            <a:avLst/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57200"/>
            <a:ext cx="8778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00" b="1" i="0">
                <a:solidFill>
                  <a:srgbClr val="23272B"/>
                </a:solidFill>
                <a:latin typeface="Georgia"/>
                <a:ea typeface="Microsoft JhengHei"/>
                <a:cs typeface="Georgia"/>
              </a:rPr>
              <a:t>放大檢視 II：開源獎勵生成器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66959" y="512064"/>
            <a:ext cx="1645920" cy="329184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Zoom-in II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170432"/>
            <a:ext cx="11055096" cy="0"/>
          </a:xfrm>
          <a:prstGeom prst="line">
            <a:avLst/>
          </a:prstGeom>
          <a:ln w="12700">
            <a:solidFill>
              <a:srgbClr val="DDE1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41732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8C9298"/>
                </a:solidFill>
                <a:latin typeface="Calibri"/>
                <a:ea typeface="Microsoft JhengHei"/>
                <a:cs typeface="Calibri"/>
              </a:rPr>
              <a:t>輸入 (Input)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3291840" cy="640080"/>
          </a:xfrm>
          <a:prstGeom prst="roundRect">
            <a:avLst>
              <a:gd name="adj" fmla="val 10000"/>
            </a:avLst>
          </a:prstGeom>
          <a:solidFill>
            <a:srgbClr val="252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E8E8E8"/>
                </a:solidFill>
                <a:latin typeface="Calibri"/>
                <a:ea typeface="Microsoft JhengHei"/>
                <a:cs typeface="Calibri"/>
              </a:rPr>
              <a:t>Task Spec（環境描述、觀察空間）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560320"/>
            <a:ext cx="3291840" cy="640080"/>
          </a:xfrm>
          <a:prstGeom prst="roundRect">
            <a:avLst>
              <a:gd name="adj" fmla="val 10000"/>
            </a:avLst>
          </a:prstGeom>
          <a:solidFill>
            <a:srgbClr val="252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E8E8E8"/>
                </a:solidFill>
                <a:latin typeface="Calibri"/>
                <a:ea typeface="Microsoft JhengHei"/>
                <a:cs typeface="Calibri"/>
              </a:rPr>
              <a:t>歷史先驗（來自四層記憶）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337560"/>
            <a:ext cx="3291840" cy="640080"/>
          </a:xfrm>
          <a:prstGeom prst="roundRect">
            <a:avLst>
              <a:gd name="adj" fmla="val 10000"/>
            </a:avLst>
          </a:prstGeom>
          <a:solidFill>
            <a:srgbClr val="252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E8E8E8"/>
                </a:solidFill>
                <a:latin typeface="Calibri"/>
                <a:ea typeface="Microsoft JhengHei"/>
                <a:cs typeface="Calibri"/>
              </a:rPr>
              <a:t>Fitness 回饋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023360" y="2651760"/>
            <a:ext cx="548640" cy="0"/>
          </a:xfrm>
          <a:prstGeom prst="line">
            <a:avLst/>
          </a:prstGeom>
          <a:ln w="31750">
            <a:solidFill>
              <a:srgbClr val="8C9298"/>
            </a:solidFill>
            <a:headEnd type="none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617720" y="1783080"/>
            <a:ext cx="3108960" cy="1737360"/>
          </a:xfrm>
          <a:prstGeom prst="roundRect">
            <a:avLst>
              <a:gd name="adj" fmla="val 8000"/>
            </a:avLst>
          </a:prstGeom>
          <a:solidFill>
            <a:srgbClr val="E9F4EC"/>
          </a:solidFill>
          <a:ln w="19050">
            <a:solidFill>
              <a:srgbClr val="BEE2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2E8B57"/>
                </a:solidFill>
                <a:latin typeface="Calibri"/>
                <a:ea typeface="Microsoft JhengHei"/>
                <a:cs typeface="Calibri"/>
              </a:rPr>
              <a:t>引擎：開源 LLM</a:t>
            </a:r>
          </a:p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23272B"/>
                </a:solidFill>
                <a:latin typeface="Calibri"/>
                <a:ea typeface="Microsoft JhengHei"/>
                <a:cs typeface="Calibri"/>
              </a:rPr>
              <a:t>Stateless 無狀態：</a:t>
            </a:r>
          </a:p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23272B"/>
                </a:solidFill>
                <a:latin typeface="Calibri"/>
                <a:ea typeface="Microsoft JhengHei"/>
                <a:cs typeface="Calibri"/>
              </a:rPr>
              <a:t>所有跨迭代訊息</a:t>
            </a:r>
          </a:p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23272B"/>
                </a:solidFill>
                <a:latin typeface="Calibri"/>
                <a:ea typeface="Microsoft JhengHei"/>
                <a:cs typeface="Calibri"/>
              </a:rPr>
              <a:t>皆由記憶區塊載入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818120" y="2651760"/>
            <a:ext cx="548640" cy="0"/>
          </a:xfrm>
          <a:prstGeom prst="line">
            <a:avLst/>
          </a:prstGeom>
          <a:ln w="31750">
            <a:solidFill>
              <a:srgbClr val="8C9298"/>
            </a:solidFill>
            <a:headEnd type="none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412480" y="141732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8C9298"/>
                </a:solidFill>
                <a:latin typeface="Calibri"/>
                <a:ea typeface="Microsoft JhengHei"/>
                <a:cs typeface="Calibri"/>
              </a:rPr>
              <a:t>輸出 (Output)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0" y="1783080"/>
            <a:ext cx="3108960" cy="1737360"/>
          </a:xfrm>
          <a:prstGeom prst="roundRect">
            <a:avLst>
              <a:gd name="adj" fmla="val 6000"/>
            </a:avLst>
          </a:prstGeom>
          <a:solidFill>
            <a:srgbClr val="252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E8E8E8"/>
                </a:solidFill>
                <a:latin typeface="Consolas"/>
                <a:ea typeface="Microsoft JhengHei"/>
                <a:cs typeface="Consolas"/>
              </a:rPr>
              <a:t>def reward_fn(</a:t>
            </a:r>
          </a:p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E8E8E8"/>
                </a:solidFill>
                <a:latin typeface="Consolas"/>
                <a:ea typeface="Microsoft JhengHei"/>
                <a:cs typeface="Consolas"/>
              </a:rPr>
              <a:t>  obs, action,</a:t>
            </a:r>
          </a:p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E8E8E8"/>
                </a:solidFill>
                <a:latin typeface="Consolas"/>
                <a:ea typeface="Microsoft JhengHei"/>
                <a:cs typeface="Consolas"/>
              </a:rPr>
              <a:t>  next_obs, done</a:t>
            </a:r>
          </a:p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FBF1A9"/>
                </a:solidFill>
                <a:latin typeface="Consolas"/>
                <a:ea typeface="Microsoft JhengHei"/>
                <a:cs typeface="Consolas"/>
              </a:rPr>
              <a:t>) -&gt; float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160520"/>
            <a:ext cx="10881360" cy="1463040"/>
          </a:xfrm>
          <a:prstGeom prst="roundRect">
            <a:avLst>
              <a:gd name="adj" fmla="val 6000"/>
            </a:avLst>
          </a:prstGeom>
          <a:solidFill>
            <a:srgbClr val="FBEAE8"/>
          </a:solidFill>
          <a:ln w="12700">
            <a:solidFill>
              <a:srgbClr val="F0C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C4463D"/>
                </a:solidFill>
                <a:latin typeface="Calibri"/>
                <a:ea typeface="Microsoft JhengHei"/>
                <a:cs typeface="Calibri"/>
              </a:rPr>
              <a:t>安全沙箱 (Security Sandbox)</a:t>
            </a:r>
          </a:p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23272B"/>
                </a:solidFill>
                <a:latin typeface="Calibri"/>
                <a:ea typeface="Microsoft JhengHei"/>
                <a:cs typeface="Calibri"/>
              </a:rPr>
              <a:t>語法 AST 解析 + 沙箱執行驗證（L2 subprocess isolation）：僅允許決定性 Python，禁止網路與檔案 I/O。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46480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8C9298"/>
                </a:solidFill>
                <a:latin typeface="Calibri"/>
                <a:ea typeface="Microsoft JhengHei"/>
                <a:cs typeface="Calibri"/>
              </a:rPr>
              <a:t>Hermes-DQN ・ 國立中興大學 資訊管理學研究所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46480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C9298"/>
                </a:solidFill>
                <a:latin typeface="Calibri"/>
                <a:ea typeface="Microsoft JhengHei"/>
                <a:cs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512064"/>
            <a:ext cx="109728" cy="365760"/>
          </a:xfrm>
          <a:prstGeom prst="rect">
            <a:avLst/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57200"/>
            <a:ext cx="8778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00" b="1" i="0">
                <a:solidFill>
                  <a:srgbClr val="23272B"/>
                </a:solidFill>
                <a:latin typeface="Georgia"/>
                <a:ea typeface="Microsoft JhengHei"/>
                <a:cs typeface="Georgia"/>
              </a:rPr>
              <a:t>放大檢視 III：AST 感知 Replay Buffer 策略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66959" y="512064"/>
            <a:ext cx="1645920" cy="329184"/>
          </a:xfrm>
          <a:prstGeom prst="roundRect">
            <a:avLst>
              <a:gd name="adj" fmla="val 50000"/>
            </a:avLst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Zoom-in III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170432"/>
            <a:ext cx="11055096" cy="0"/>
          </a:xfrm>
          <a:prstGeom prst="line">
            <a:avLst/>
          </a:prstGeom>
          <a:ln w="12700">
            <a:solidFill>
              <a:srgbClr val="DDE1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37160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465059"/>
                </a:solidFill>
                <a:latin typeface="Microsoft JhengHei"/>
                <a:ea typeface="Microsoft JhengHei"/>
                <a:cs typeface="Microsoft JhengHei"/>
              </a:rPr>
              <a:t>相似度決策光譜 (Similarity Decision Spectrum)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2286000"/>
            <a:ext cx="2606040" cy="45720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0" y="2286000"/>
            <a:ext cx="2606040" cy="457200"/>
          </a:xfrm>
          <a:prstGeom prst="rect">
            <a:avLst/>
          </a:prstGeom>
          <a:solidFill>
            <a:srgbClr val="9C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2286000"/>
            <a:ext cx="2606040" cy="457200"/>
          </a:xfrm>
          <a:prstGeom prst="rect">
            <a:avLst/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0" y="2286000"/>
            <a:ext cx="2606040" cy="457200"/>
          </a:xfrm>
          <a:prstGeom prst="rect">
            <a:avLst/>
          </a:prstGeom>
          <a:solidFill>
            <a:srgbClr val="C44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2E8B57"/>
                </a:solidFill>
                <a:latin typeface="Calibri"/>
                <a:ea typeface="Microsoft JhengHei"/>
                <a:cs typeface="Calibri"/>
              </a:rPr>
              <a:t>1.00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35640" y="28346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C4463D"/>
                </a:solidFill>
                <a:latin typeface="Calibri"/>
                <a:ea typeface="Microsoft JhengHei"/>
                <a:cs typeface="Calibri"/>
              </a:rPr>
              <a:t>0.00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308860" y="2743200"/>
            <a:ext cx="0" cy="228600"/>
          </a:xfrm>
          <a:prstGeom prst="line">
            <a:avLst/>
          </a:prstGeom>
          <a:ln w="25400">
            <a:solidFill>
              <a:srgbClr val="2E8B57"/>
            </a:solidFill>
            <a:headEnd type="none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14400" y="2999232"/>
            <a:ext cx="2788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8C9298"/>
                </a:solidFill>
                <a:latin typeface="Consolas"/>
                <a:ea typeface="Microsoft JhengHei"/>
                <a:cs typeface="Consolas"/>
              </a:rPr>
              <a:t>IDENTICAL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88720" y="3310128"/>
            <a:ext cx="224028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2E8B57"/>
                </a:solidFill>
                <a:latin typeface="Consolas"/>
                <a:ea typeface="Microsoft JhengHei"/>
                <a:cs typeface="Consolas"/>
              </a:rPr>
              <a:t>KEEP</a:t>
            </a:r>
          </a:p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465059"/>
                </a:solidFill>
                <a:latin typeface="Calibri"/>
                <a:ea typeface="Microsoft JhengHei"/>
                <a:cs typeface="Calibri"/>
              </a:rPr>
              <a:t>完整保留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960620" y="2743200"/>
            <a:ext cx="0" cy="228600"/>
          </a:xfrm>
          <a:prstGeom prst="line">
            <a:avLst/>
          </a:prstGeom>
          <a:ln w="25400">
            <a:solidFill>
              <a:srgbClr val="6F9E3F"/>
            </a:solidFill>
            <a:headEnd type="none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566160" y="2999232"/>
            <a:ext cx="2788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8C9298"/>
                </a:solidFill>
                <a:latin typeface="Consolas"/>
                <a:ea typeface="Microsoft JhengHei"/>
                <a:cs typeface="Consolas"/>
              </a:rPr>
              <a:t>SIGNATURE_ONLY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40480" y="3310128"/>
            <a:ext cx="224028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6F9E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6F9E3F"/>
                </a:solidFill>
                <a:latin typeface="Consolas"/>
                <a:ea typeface="Microsoft JhengHei"/>
                <a:cs typeface="Consolas"/>
              </a:rPr>
              <a:t>PARTIAL_KEEP</a:t>
            </a:r>
          </a:p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465059"/>
                </a:solidFill>
                <a:latin typeface="Calibri"/>
                <a:ea typeface="Microsoft JhengHei"/>
                <a:cs typeface="Calibri"/>
              </a:rPr>
              <a:t>保留高 Q 樣本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612380" y="2743200"/>
            <a:ext cx="0" cy="228600"/>
          </a:xfrm>
          <a:prstGeom prst="line">
            <a:avLst/>
          </a:prstGeom>
          <a:ln w="25400">
            <a:solidFill>
              <a:srgbClr val="D99A2B"/>
            </a:solidFill>
            <a:headEnd type="none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217920" y="2999232"/>
            <a:ext cx="2788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8C9298"/>
                </a:solidFill>
                <a:latin typeface="Consolas"/>
                <a:ea typeface="Microsoft JhengHei"/>
                <a:cs typeface="Consolas"/>
              </a:rPr>
              <a:t>STRUCTURAL_DIFF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92240" y="3310128"/>
            <a:ext cx="224028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D99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D99A2B"/>
                </a:solidFill>
                <a:latin typeface="Consolas"/>
                <a:ea typeface="Microsoft JhengHei"/>
                <a:cs typeface="Consolas"/>
              </a:rPr>
              <a:t>DECAY</a:t>
            </a:r>
          </a:p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465059"/>
                </a:solidFill>
                <a:latin typeface="Calibri"/>
                <a:ea typeface="Microsoft JhengHei"/>
                <a:cs typeface="Calibri"/>
              </a:rPr>
              <a:t>權重 ×0.5 衰減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0264140" y="2743200"/>
            <a:ext cx="0" cy="228600"/>
          </a:xfrm>
          <a:prstGeom prst="line">
            <a:avLst/>
          </a:prstGeom>
          <a:ln w="25400">
            <a:solidFill>
              <a:srgbClr val="C4463D"/>
            </a:solidFill>
            <a:headEnd type="none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869680" y="2999232"/>
            <a:ext cx="2788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8C9298"/>
                </a:solidFill>
                <a:latin typeface="Consolas"/>
                <a:ea typeface="Microsoft JhengHei"/>
                <a:cs typeface="Consolas"/>
              </a:rPr>
              <a:t>TOTAL_REWRITE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0" y="3310128"/>
            <a:ext cx="224028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C44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C4463D"/>
                </a:solidFill>
                <a:latin typeface="Consolas"/>
                <a:ea typeface="Microsoft JhengHei"/>
                <a:cs typeface="Consolas"/>
              </a:rPr>
              <a:t>CLEAR</a:t>
            </a:r>
          </a:p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465059"/>
                </a:solidFill>
                <a:latin typeface="Calibri"/>
                <a:ea typeface="Microsoft JhengHei"/>
                <a:cs typeface="Calibri"/>
              </a:rPr>
              <a:t>清空重來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02920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23272B"/>
                </a:solidFill>
                <a:latin typeface="Microsoft JhengHei"/>
                <a:ea typeface="Microsoft JhengHei"/>
                <a:cs typeface="Microsoft JhengHei"/>
              </a:rPr>
              <a:t>差異越大，清除越狠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53212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1">
                <a:solidFill>
                  <a:srgbClr val="8C9298"/>
                </a:solidFill>
                <a:latin typeface="Calibri"/>
                <a:ea typeface="Microsoft JhengHei"/>
                <a:cs typeface="Calibri"/>
              </a:rPr>
              <a:t>Linear degradation of prior experience based on structural drift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46480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8C9298"/>
                </a:solidFill>
                <a:latin typeface="Calibri"/>
                <a:ea typeface="Microsoft JhengHei"/>
                <a:cs typeface="Calibri"/>
              </a:rPr>
              <a:t>Hermes-DQN ・ 國立中興大學 資訊管理學研究所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646480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C9298"/>
                </a:solidFill>
                <a:latin typeface="Calibri"/>
                <a:ea typeface="Microsoft JhengHei"/>
                <a:cs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512064"/>
            <a:ext cx="109728" cy="365760"/>
          </a:xfrm>
          <a:prstGeom prst="rect">
            <a:avLst/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57200"/>
            <a:ext cx="8778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00" b="1" i="0">
                <a:solidFill>
                  <a:srgbClr val="23272B"/>
                </a:solidFill>
                <a:latin typeface="Georgia"/>
                <a:ea typeface="Microsoft JhengHei"/>
                <a:cs typeface="Georgia"/>
              </a:rPr>
              <a:t>AST 差異如何計算？（補充）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84080" y="512064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How it works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170432"/>
            <a:ext cx="11055096" cy="0"/>
          </a:xfrm>
          <a:prstGeom prst="line">
            <a:avLst/>
          </a:prstGeom>
          <a:ln w="12700">
            <a:solidFill>
              <a:srgbClr val="DDE1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40080" y="1463040"/>
            <a:ext cx="5029200" cy="2194560"/>
          </a:xfrm>
          <a:prstGeom prst="roundRect">
            <a:avLst>
              <a:gd name="adj" fmla="val 5000"/>
            </a:avLst>
          </a:prstGeom>
          <a:solidFill>
            <a:srgbClr val="252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8C9298"/>
                </a:solidFill>
                <a:latin typeface="Consolas"/>
                <a:ea typeface="Microsoft JhengHei"/>
                <a:cs typeface="Consolas"/>
              </a:rPr>
              <a:t># 兩段原始碼字串的純函數</a:t>
            </a:r>
          </a:p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8E8E8"/>
                </a:solidFill>
                <a:latin typeface="Consolas"/>
                <a:ea typeface="Microsoft JhengHei"/>
                <a:cs typeface="Consolas"/>
              </a:rPr>
              <a:t>old = ast.parse(prev_src)</a:t>
            </a:r>
          </a:p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8E8E8"/>
                </a:solidFill>
                <a:latin typeface="Consolas"/>
                <a:ea typeface="Microsoft JhengHei"/>
                <a:cs typeface="Consolas"/>
              </a:rPr>
              <a:t>new = ast.parse(curr_src)</a:t>
            </a:r>
          </a:p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FBF1A9"/>
                </a:solidFill>
                <a:latin typeface="Consolas"/>
                <a:ea typeface="Microsoft JhengHei"/>
                <a:cs typeface="Consolas"/>
              </a:rPr>
              <a:t>kind = classify(old, new)</a:t>
            </a:r>
          </a:p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FBF1A9"/>
                </a:solidFill>
                <a:latin typeface="Consolas"/>
                <a:ea typeface="Microsoft JhengHei"/>
                <a:cs typeface="Consolas"/>
              </a:rPr>
              <a:t>policy = DECIDE[kind]</a:t>
            </a:r>
          </a:p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8E8E8"/>
                </a:solidFill>
                <a:latin typeface="Consolas"/>
                <a:ea typeface="Microsoft JhengHei"/>
                <a:cs typeface="Consolas"/>
              </a:rPr>
              <a:t>apply(prev_buffer, policy)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94760"/>
            <a:ext cx="51206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465059"/>
                </a:solidFill>
                <a:latin typeface="Microsoft JhengHei"/>
                <a:ea typeface="Microsoft JhengHei"/>
                <a:cs typeface="Microsoft JhengHei"/>
              </a:rPr>
              <a:t>以 Python 內建 ast 模組分別解析新舊獎勵原始碼，比較語法樹結構；分類器與策略查表皆為「兩個字串的決定性純函數」，可重現、無副作用。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14173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3272B"/>
                </a:solidFill>
                <a:latin typeface="Microsoft JhengHei"/>
                <a:ea typeface="Microsoft JhengHei"/>
                <a:cs typeface="Microsoft JhengHei"/>
              </a:rPr>
              <a:t>四類結構差異 → 對應策略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874519"/>
            <a:ext cx="548640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0" y="1874519"/>
            <a:ext cx="109728" cy="841248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96596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E8B57"/>
                </a:solidFill>
                <a:latin typeface="Consolas"/>
                <a:ea typeface="Microsoft JhengHei"/>
                <a:cs typeface="Consolas"/>
              </a:rPr>
              <a:t>IDENTICAL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286000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65059"/>
                </a:solidFill>
                <a:latin typeface="Microsoft JhengHei"/>
                <a:ea typeface="Microsoft JhengHei"/>
                <a:cs typeface="Microsoft JhengHei"/>
              </a:rPr>
              <a:t>語法樹完全相同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1984248"/>
            <a:ext cx="11887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2E8B57"/>
                </a:solidFill>
                <a:latin typeface="Consolas"/>
                <a:ea typeface="Microsoft JhengHei"/>
                <a:cs typeface="Consolas"/>
              </a:rPr>
              <a:t>→ KEEP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2788920"/>
            <a:ext cx="548640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0" y="2788920"/>
            <a:ext cx="109728" cy="841248"/>
          </a:xfrm>
          <a:prstGeom prst="rect">
            <a:avLst/>
          </a:prstGeom>
          <a:solidFill>
            <a:srgbClr val="6F9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288036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6F9E3F"/>
                </a:solidFill>
                <a:latin typeface="Consolas"/>
                <a:ea typeface="Microsoft JhengHei"/>
                <a:cs typeface="Consolas"/>
              </a:rPr>
              <a:t>SIGNATURE_ONLY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3200400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65059"/>
                </a:solidFill>
                <a:latin typeface="Microsoft JhengHei"/>
                <a:ea typeface="Microsoft JhengHei"/>
                <a:cs typeface="Microsoft JhengHei"/>
              </a:rPr>
              <a:t>簽章不變、函式體變動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2898648"/>
            <a:ext cx="11887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6F9E3F"/>
                </a:solidFill>
                <a:latin typeface="Consolas"/>
                <a:ea typeface="Microsoft JhengHei"/>
                <a:cs typeface="Consolas"/>
              </a:rPr>
              <a:t>→ PARTIAL_KEEP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35040" y="3703320"/>
            <a:ext cx="548640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35040" y="3703320"/>
            <a:ext cx="109728" cy="841248"/>
          </a:xfrm>
          <a:prstGeom prst="rect">
            <a:avLst/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3794759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99A2B"/>
                </a:solidFill>
                <a:latin typeface="Consolas"/>
                <a:ea typeface="Microsoft JhengHei"/>
                <a:cs typeface="Consolas"/>
              </a:rPr>
              <a:t>STRUCTURAL_DIFF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4114800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65059"/>
                </a:solidFill>
                <a:latin typeface="Microsoft JhengHei"/>
                <a:ea typeface="Microsoft JhengHei"/>
                <a:cs typeface="Microsoft JhengHei"/>
              </a:rPr>
              <a:t>控制流變動、多數運算元延續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3813048"/>
            <a:ext cx="11887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D99A2B"/>
                </a:solidFill>
                <a:latin typeface="Consolas"/>
                <a:ea typeface="Microsoft JhengHei"/>
                <a:cs typeface="Consolas"/>
              </a:rPr>
              <a:t>→ DECAY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35040" y="4617720"/>
            <a:ext cx="548640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035040" y="4617720"/>
            <a:ext cx="109728" cy="841248"/>
          </a:xfrm>
          <a:prstGeom prst="rect">
            <a:avLst/>
          </a:prstGeom>
          <a:solidFill>
            <a:srgbClr val="C44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4709159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4463D"/>
                </a:solidFill>
                <a:latin typeface="Consolas"/>
                <a:ea typeface="Microsoft JhengHei"/>
                <a:cs typeface="Consolas"/>
              </a:rPr>
              <a:t>TOTAL_REWRITE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5029200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65059"/>
                </a:solidFill>
                <a:latin typeface="Microsoft JhengHei"/>
                <a:ea typeface="Microsoft JhengHei"/>
                <a:cs typeface="Microsoft JhengHei"/>
              </a:rPr>
              <a:t>結構幾無重疊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0" y="4727448"/>
            <a:ext cx="11887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C4463D"/>
                </a:solidFill>
                <a:latin typeface="Consolas"/>
                <a:ea typeface="Microsoft JhengHei"/>
                <a:cs typeface="Consolas"/>
              </a:rPr>
              <a:t>→ CLEAR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646480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8C9298"/>
                </a:solidFill>
                <a:latin typeface="Calibri"/>
                <a:ea typeface="Microsoft JhengHei"/>
                <a:cs typeface="Calibri"/>
              </a:rPr>
              <a:t>Hermes-DQN ・ 國立中興大學 資訊管理學研究所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89920" y="646480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C9298"/>
                </a:solidFill>
                <a:latin typeface="Calibri"/>
                <a:ea typeface="Microsoft JhengHei"/>
                <a:cs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512064"/>
            <a:ext cx="109728" cy="365760"/>
          </a:xfrm>
          <a:prstGeom prst="rect">
            <a:avLst/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57200"/>
            <a:ext cx="8778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00" b="1" i="0">
                <a:solidFill>
                  <a:srgbClr val="23272B"/>
                </a:solidFill>
                <a:latin typeface="Georgia"/>
                <a:ea typeface="Microsoft JhengHei"/>
                <a:cs typeface="Georgia"/>
              </a:rPr>
              <a:t>智能體變體：展現系統的模型無關性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509759" y="512064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465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Model-Agnostic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170432"/>
            <a:ext cx="11055096" cy="0"/>
          </a:xfrm>
          <a:prstGeom prst="line">
            <a:avLst/>
          </a:prstGeom>
          <a:ln w="12700">
            <a:solidFill>
              <a:srgbClr val="DDE1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28016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65059"/>
                </a:solidFill>
                <a:latin typeface="Microsoft JhengHei"/>
                <a:ea typeface="Microsoft JhengHei"/>
                <a:cs typeface="Microsoft JhengHei"/>
              </a:rPr>
              <a:t>Hermes 框架與底層 DQN 架構完全解耦，可透過 --dqn-variant 無縫切換。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5440680" cy="1737360"/>
          </a:xfrm>
          <a:prstGeom prst="roundRect">
            <a:avLst>
              <a:gd name="adj" fmla="val 5000"/>
            </a:avLst>
          </a:prstGeom>
          <a:solidFill>
            <a:srgbClr val="EAEDF0"/>
          </a:solidFill>
          <a:ln w="12700">
            <a:solidFill>
              <a:srgbClr val="DD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47672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3272B"/>
                </a:solidFill>
                <a:latin typeface="Georgia"/>
                <a:ea typeface="Microsoft JhengHei"/>
                <a:cs typeface="Georgia"/>
              </a:rPr>
              <a:t>1  Vanilla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404872"/>
            <a:ext cx="2377440" cy="868680"/>
          </a:xfrm>
          <a:prstGeom prst="roundRect">
            <a:avLst>
              <a:gd name="adj" fmla="val 8000"/>
            </a:avLst>
          </a:prstGeom>
          <a:solidFill>
            <a:srgbClr val="252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E8E8E8"/>
                </a:solidFill>
                <a:latin typeface="Consolas"/>
                <a:ea typeface="Microsoft JhengHei"/>
                <a:cs typeface="Consolas"/>
              </a:rPr>
              <a:t>use_double=False</a:t>
            </a: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E8E8E8"/>
                </a:solidFill>
                <a:latin typeface="Consolas"/>
                <a:ea typeface="Microsoft JhengHei"/>
                <a:cs typeface="Consolas"/>
              </a:rPr>
              <a:t>dueling=False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423160"/>
            <a:ext cx="24231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465059"/>
                </a:solidFill>
                <a:latin typeface="Microsoft JhengHei"/>
                <a:ea typeface="Microsoft JhengHei"/>
                <a:cs typeface="Microsoft JhengHei"/>
              </a:rPr>
              <a:t>標準 DQN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0760" y="1783080"/>
            <a:ext cx="5440680" cy="1737360"/>
          </a:xfrm>
          <a:prstGeom prst="roundRect">
            <a:avLst>
              <a:gd name="adj" fmla="val 5000"/>
            </a:avLst>
          </a:prstGeom>
          <a:solidFill>
            <a:srgbClr val="EAF1F8"/>
          </a:solidFill>
          <a:ln w="12700">
            <a:solidFill>
              <a:srgbClr val="C6D9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947672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3F6FA8"/>
                </a:solidFill>
                <a:latin typeface="Georgia"/>
                <a:ea typeface="Microsoft JhengHei"/>
                <a:cs typeface="Georgia"/>
              </a:rPr>
              <a:t>2  Double DQN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2404872"/>
            <a:ext cx="2377440" cy="868680"/>
          </a:xfrm>
          <a:prstGeom prst="roundRect">
            <a:avLst>
              <a:gd name="adj" fmla="val 8000"/>
            </a:avLst>
          </a:prstGeom>
          <a:solidFill>
            <a:srgbClr val="252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E8E8E8"/>
                </a:solidFill>
                <a:latin typeface="Consolas"/>
                <a:ea typeface="Microsoft JhengHei"/>
                <a:cs typeface="Consolas"/>
              </a:rPr>
              <a:t>use_double=True</a:t>
            </a: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E8E8E8"/>
                </a:solidFill>
                <a:latin typeface="Consolas"/>
                <a:ea typeface="Microsoft JhengHei"/>
                <a:cs typeface="Consolas"/>
              </a:rPr>
              <a:t>dueling=False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2423160"/>
            <a:ext cx="24231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465059"/>
                </a:solidFill>
                <a:latin typeface="Microsoft JhengHei"/>
                <a:ea typeface="Microsoft JhengHei"/>
                <a:cs typeface="Microsoft JhengHei"/>
              </a:rPr>
              <a:t>分離線上/目標網路，消除最大化偏誤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440680" cy="1737360"/>
          </a:xfrm>
          <a:prstGeom prst="roundRect">
            <a:avLst>
              <a:gd name="adj" fmla="val 5000"/>
            </a:avLst>
          </a:prstGeom>
          <a:solidFill>
            <a:srgbClr val="E9F4EC"/>
          </a:solidFill>
          <a:ln w="12700">
            <a:solidFill>
              <a:srgbClr val="BEE2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867911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E8B57"/>
                </a:solidFill>
                <a:latin typeface="Georgia"/>
                <a:ea typeface="Microsoft JhengHei"/>
                <a:cs typeface="Georgia"/>
              </a:rPr>
              <a:t>3  Dueling DQN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325112"/>
            <a:ext cx="2377440" cy="868680"/>
          </a:xfrm>
          <a:prstGeom prst="roundRect">
            <a:avLst>
              <a:gd name="adj" fmla="val 8000"/>
            </a:avLst>
          </a:prstGeom>
          <a:solidFill>
            <a:srgbClr val="252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E8E8E8"/>
                </a:solidFill>
                <a:latin typeface="Consolas"/>
                <a:ea typeface="Microsoft JhengHei"/>
                <a:cs typeface="Consolas"/>
              </a:rPr>
              <a:t>use_double=False</a:t>
            </a: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E8E8E8"/>
                </a:solidFill>
                <a:latin typeface="Consolas"/>
                <a:ea typeface="Microsoft JhengHei"/>
                <a:cs typeface="Consolas"/>
              </a:rPr>
              <a:t>dueling=True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4343400"/>
            <a:ext cx="24231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465059"/>
                </a:solidFill>
                <a:latin typeface="Microsoft JhengHei"/>
                <a:ea typeface="Microsoft JhengHei"/>
                <a:cs typeface="Microsoft JhengHei"/>
              </a:rPr>
              <a:t>Q 分解為 V(s) 與優勢 A(s,a)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80760" y="3703320"/>
            <a:ext cx="5440680" cy="1737360"/>
          </a:xfrm>
          <a:prstGeom prst="roundRect">
            <a:avLst>
              <a:gd name="adj" fmla="val 5000"/>
            </a:avLst>
          </a:prstGeom>
          <a:solidFill>
            <a:srgbClr val="FBF1A9"/>
          </a:solidFill>
          <a:ln w="12700">
            <a:solidFill>
              <a:srgbClr val="E7D4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3867911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D99A2B"/>
                </a:solidFill>
                <a:latin typeface="Georgia"/>
                <a:ea typeface="Microsoft JhengHei"/>
                <a:cs typeface="Georgia"/>
              </a:rPr>
              <a:t>4  Double + Dueling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4325112"/>
            <a:ext cx="2377440" cy="868680"/>
          </a:xfrm>
          <a:prstGeom prst="roundRect">
            <a:avLst>
              <a:gd name="adj" fmla="val 8000"/>
            </a:avLst>
          </a:prstGeom>
          <a:solidFill>
            <a:srgbClr val="252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E8E8E8"/>
                </a:solidFill>
                <a:latin typeface="Consolas"/>
                <a:ea typeface="Microsoft JhengHei"/>
                <a:cs typeface="Consolas"/>
              </a:rPr>
              <a:t>use_double=True</a:t>
            </a: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E8E8E8"/>
                </a:solidFill>
                <a:latin typeface="Consolas"/>
                <a:ea typeface="Microsoft JhengHei"/>
                <a:cs typeface="Consolas"/>
              </a:rPr>
              <a:t>dueling=True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400" y="4343400"/>
            <a:ext cx="24231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465059"/>
                </a:solidFill>
                <a:latin typeface="Microsoft JhengHei"/>
                <a:ea typeface="Microsoft JhengHei"/>
                <a:cs typeface="Microsoft JhengHei"/>
              </a:rPr>
              <a:t>兩者結合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46480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8C9298"/>
                </a:solidFill>
                <a:latin typeface="Calibri"/>
                <a:ea typeface="Microsoft JhengHei"/>
                <a:cs typeface="Calibri"/>
              </a:rPr>
              <a:t>Hermes-DQN ・ 國立中興大學 資訊管理學研究所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46480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C9298"/>
                </a:solidFill>
                <a:latin typeface="Calibri"/>
                <a:ea typeface="Microsoft JhengHei"/>
                <a:cs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512064"/>
            <a:ext cx="109728" cy="365760"/>
          </a:xfrm>
          <a:prstGeom prst="rect">
            <a:avLst/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57200"/>
            <a:ext cx="8778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00" b="1" i="0">
                <a:solidFill>
                  <a:srgbClr val="23272B"/>
                </a:solidFill>
                <a:latin typeface="Georgia"/>
                <a:ea typeface="Microsoft JhengHei"/>
                <a:cs typeface="Georgia"/>
              </a:rPr>
              <a:t>嚴謹驗證：六種消融實驗條件 (Ablation Matrix)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0" y="512064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465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Ablation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170432"/>
            <a:ext cx="11055096" cy="0"/>
          </a:xfrm>
          <a:prstGeom prst="line">
            <a:avLst/>
          </a:prstGeom>
          <a:ln w="12700">
            <a:solidFill>
              <a:srgbClr val="DDE1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155448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465059"/>
                </a:solidFill>
                <a:latin typeface="Microsoft JhengHei"/>
                <a:ea typeface="Microsoft JhengHei"/>
                <a:cs typeface="Microsoft JhengHei"/>
              </a:rPr>
              <a:t>條件 (Condition)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11879" y="155448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465059"/>
                </a:solidFill>
                <a:latin typeface="Microsoft JhengHei"/>
                <a:ea typeface="Microsoft JhengHei"/>
                <a:cs typeface="Microsoft JhengHei"/>
              </a:rPr>
              <a:t>獎勵來源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6440" y="15544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465059"/>
                </a:solidFill>
                <a:latin typeface="Microsoft JhengHei"/>
                <a:ea typeface="Microsoft JhengHei"/>
                <a:cs typeface="Microsoft JhengHei"/>
              </a:rPr>
              <a:t>記憶 (FTS5)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80" y="15544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465059"/>
                </a:solidFill>
                <a:latin typeface="Microsoft JhengHei"/>
                <a:ea typeface="Microsoft JhengHei"/>
                <a:cs typeface="Microsoft JhengHei"/>
              </a:rPr>
              <a:t>AST 緩衝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46920" y="15544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465059"/>
                </a:solidFill>
                <a:latin typeface="Microsoft JhengHei"/>
                <a:ea typeface="Microsoft JhengHei"/>
                <a:cs typeface="Microsoft JhengHei"/>
              </a:rPr>
              <a:t>迭代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40080" y="2496312"/>
            <a:ext cx="10881360" cy="0"/>
          </a:xfrm>
          <a:prstGeom prst="line">
            <a:avLst/>
          </a:prstGeom>
          <a:ln w="9525">
            <a:solidFill>
              <a:srgbClr val="DDE1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85800" y="2002536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23272B"/>
                </a:solidFill>
                <a:latin typeface="Consolas"/>
                <a:ea typeface="Microsoft JhengHei"/>
                <a:cs typeface="Consolas"/>
              </a:rPr>
              <a:t>B0-env-native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79" y="2002536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3272B"/>
                </a:solidFill>
                <a:latin typeface="Microsoft JhengHei"/>
                <a:ea typeface="Microsoft JhengHei"/>
                <a:cs typeface="Microsoft JhengHei"/>
              </a:rPr>
              <a:t>原生獎勵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06440" y="2002536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8C9298"/>
                </a:solidFill>
                <a:latin typeface="Microsoft JhengHei"/>
                <a:ea typeface="Microsoft JhengHei"/>
                <a:cs typeface="Microsoft JhengHei"/>
              </a:rPr>
              <a:t>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80" y="2002536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8C9298"/>
                </a:solidFill>
                <a:latin typeface="Microsoft JhengHei"/>
                <a:ea typeface="Microsoft JhengHei"/>
                <a:cs typeface="Microsoft JhengHei"/>
              </a:rPr>
              <a:t>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46920" y="2002536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3272B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79" y="226771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8C9298"/>
                </a:solidFill>
                <a:latin typeface="Microsoft JhengHei"/>
                <a:ea typeface="Microsoft JhengHei"/>
                <a:cs typeface="Microsoft JhengHei"/>
              </a:rPr>
              <a:t>Baseline 基準線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40080" y="3081528"/>
            <a:ext cx="10881360" cy="0"/>
          </a:xfrm>
          <a:prstGeom prst="line">
            <a:avLst/>
          </a:prstGeom>
          <a:ln w="9525">
            <a:solidFill>
              <a:srgbClr val="DDE1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85800" y="2587752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23272B"/>
                </a:solidFill>
                <a:latin typeface="Consolas"/>
                <a:ea typeface="Microsoft JhengHei"/>
                <a:cs typeface="Consolas"/>
              </a:rPr>
              <a:t>B1-handcrafted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1879" y="2587752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3272B"/>
                </a:solidFill>
                <a:latin typeface="Microsoft JhengHei"/>
                <a:ea typeface="Microsoft JhengHei"/>
                <a:cs typeface="Microsoft JhengHei"/>
              </a:rPr>
              <a:t>人工塑形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06440" y="258775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8C9298"/>
                </a:solidFill>
                <a:latin typeface="Microsoft JhengHei"/>
                <a:ea typeface="Microsoft JhengHei"/>
                <a:cs typeface="Microsoft JhengHei"/>
              </a:rPr>
              <a:t>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26680" y="258775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8C9298"/>
                </a:solidFill>
                <a:latin typeface="Microsoft JhengHei"/>
                <a:ea typeface="Microsoft JhengHei"/>
                <a:cs typeface="Microsoft JhengHei"/>
              </a:rPr>
              <a:t>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46920" y="258775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3272B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11879" y="285292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8C9298"/>
                </a:solidFill>
                <a:latin typeface="Microsoft JhengHei"/>
                <a:ea typeface="Microsoft JhengHei"/>
                <a:cs typeface="Microsoft JhengHei"/>
              </a:rPr>
              <a:t>人類專家基準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40080" y="3666744"/>
            <a:ext cx="10881360" cy="0"/>
          </a:xfrm>
          <a:prstGeom prst="line">
            <a:avLst/>
          </a:prstGeom>
          <a:ln w="9525">
            <a:solidFill>
              <a:srgbClr val="DDE1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85800" y="3172968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23272B"/>
                </a:solidFill>
                <a:latin typeface="Consolas"/>
                <a:ea typeface="Microsoft JhengHei"/>
                <a:cs typeface="Consolas"/>
              </a:rPr>
              <a:t>B2-gemma-oneshot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11879" y="3172968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3272B"/>
                </a:solidFill>
                <a:latin typeface="Microsoft JhengHei"/>
                <a:ea typeface="Microsoft JhengHei"/>
                <a:cs typeface="Microsoft JhengHei"/>
              </a:rPr>
              <a:t>LLM 單次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06440" y="317296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8C9298"/>
                </a:solidFill>
                <a:latin typeface="Microsoft JhengHei"/>
                <a:ea typeface="Microsoft JhengHei"/>
                <a:cs typeface="Microsoft JhengHei"/>
              </a:rPr>
              <a:t>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26680" y="317296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8C9298"/>
                </a:solidFill>
                <a:latin typeface="Microsoft JhengHei"/>
                <a:ea typeface="Microsoft JhengHei"/>
                <a:cs typeface="Microsoft JhengHei"/>
              </a:rPr>
              <a:t>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46920" y="317296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3272B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11879" y="3438144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8C9298"/>
                </a:solidFill>
                <a:latin typeface="Microsoft JhengHei"/>
                <a:ea typeface="Microsoft JhengHei"/>
                <a:cs typeface="Microsoft JhengHei"/>
              </a:rPr>
              <a:t>LLM 基準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40080" y="4251960"/>
            <a:ext cx="10881360" cy="0"/>
          </a:xfrm>
          <a:prstGeom prst="line">
            <a:avLst/>
          </a:prstGeom>
          <a:ln w="9525">
            <a:solidFill>
              <a:srgbClr val="DDE1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85800" y="3758184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23272B"/>
                </a:solidFill>
                <a:latin typeface="Consolas"/>
                <a:ea typeface="Microsoft JhengHei"/>
                <a:cs typeface="Consolas"/>
              </a:rPr>
              <a:t>B3-no-memory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11879" y="3758184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3272B"/>
                </a:solidFill>
                <a:latin typeface="Microsoft JhengHei"/>
                <a:ea typeface="Microsoft JhengHei"/>
                <a:cs typeface="Microsoft JhengHei"/>
              </a:rPr>
              <a:t>LLM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06440" y="3758184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8C9298"/>
                </a:solidFill>
                <a:latin typeface="Microsoft JhengHei"/>
                <a:ea typeface="Microsoft JhengHei"/>
                <a:cs typeface="Microsoft JhengHei"/>
              </a:rPr>
              <a:t>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26680" y="3758184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E8B57"/>
                </a:solidFill>
                <a:latin typeface="Microsoft JhengHei"/>
                <a:ea typeface="Microsoft JhengHei"/>
                <a:cs typeface="Microsoft JhengHei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46920" y="3758184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3272B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11879" y="40233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8C9298"/>
                </a:solidFill>
                <a:latin typeface="Microsoft JhengHei"/>
                <a:ea typeface="Microsoft JhengHei"/>
                <a:cs typeface="Microsoft JhengHei"/>
              </a:rPr>
              <a:t>驗證記憶的獨立影響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40080" y="4837176"/>
            <a:ext cx="10881360" cy="0"/>
          </a:xfrm>
          <a:prstGeom prst="line">
            <a:avLst/>
          </a:prstGeom>
          <a:ln w="9525">
            <a:solidFill>
              <a:srgbClr val="DDE1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85800" y="434340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23272B"/>
                </a:solidFill>
                <a:latin typeface="Consolas"/>
                <a:ea typeface="Microsoft JhengHei"/>
                <a:cs typeface="Consolas"/>
              </a:rPr>
              <a:t>B3-no-AST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11879" y="434340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3272B"/>
                </a:solidFill>
                <a:latin typeface="Microsoft JhengHei"/>
                <a:ea typeface="Microsoft JhengHei"/>
                <a:cs typeface="Microsoft JhengHei"/>
              </a:rPr>
              <a:t>LLM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06440" y="43434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E8B57"/>
                </a:solidFill>
                <a:latin typeface="Microsoft JhengHei"/>
                <a:ea typeface="Microsoft JhengHei"/>
                <a:cs typeface="Microsoft JhengHei"/>
              </a:rP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26680" y="43434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8C9298"/>
                </a:solidFill>
                <a:latin typeface="Microsoft JhengHei"/>
                <a:ea typeface="Microsoft JhengHei"/>
                <a:cs typeface="Microsoft JhengHei"/>
              </a:rPr>
              <a:t>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46920" y="43434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3272B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11879" y="460857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8C9298"/>
                </a:solidFill>
                <a:latin typeface="Microsoft JhengHei"/>
                <a:ea typeface="Microsoft JhengHei"/>
                <a:cs typeface="Microsoft JhengHei"/>
              </a:rPr>
              <a:t>驗證緩衝管理的獨立影響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94360" y="4846320"/>
            <a:ext cx="10927080" cy="603504"/>
          </a:xfrm>
          <a:prstGeom prst="roundRect">
            <a:avLst>
              <a:gd name="adj" fmla="val 10000"/>
            </a:avLst>
          </a:prstGeom>
          <a:solidFill>
            <a:srgbClr val="FBF1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5800" y="4928616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23272B"/>
                </a:solidFill>
                <a:latin typeface="Consolas"/>
                <a:ea typeface="Microsoft JhengHei"/>
                <a:cs typeface="Consolas"/>
              </a:rPr>
              <a:t>B3-hermes-full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11879" y="4928616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3272B"/>
                </a:solidFill>
                <a:latin typeface="Microsoft JhengHei"/>
                <a:ea typeface="Microsoft JhengHei"/>
                <a:cs typeface="Microsoft JhengHei"/>
              </a:rPr>
              <a:t>LLM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06440" y="4928616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E8B57"/>
                </a:solidFill>
                <a:latin typeface="Microsoft JhengHei"/>
                <a:ea typeface="Microsoft JhengHei"/>
                <a:cs typeface="Microsoft JhengHei"/>
              </a:rPr>
              <a:t>✓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726680" y="4928616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E8B57"/>
                </a:solidFill>
                <a:latin typeface="Microsoft JhengHei"/>
                <a:ea typeface="Microsoft JhengHei"/>
                <a:cs typeface="Microsoft JhengHei"/>
              </a:rPr>
              <a:t>✓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46920" y="4928616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3272B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11879" y="519379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8C9298"/>
                </a:solidFill>
                <a:latin typeface="Microsoft JhengHei"/>
                <a:ea typeface="Microsoft JhengHei"/>
                <a:cs typeface="Microsoft JhengHei"/>
              </a:rPr>
              <a:t>完整系統</a:t>
            </a:r>
          </a:p>
        </p:txBody>
      </p:sp>
      <p:sp>
        <p:nvSpPr>
          <p:cNvPr id="53" name="Rectangle 52"/>
          <p:cNvSpPr/>
          <p:nvPr/>
        </p:nvSpPr>
        <p:spPr>
          <a:xfrm rot="21480000">
            <a:off x="7680960" y="5559552"/>
            <a:ext cx="3840480" cy="749808"/>
          </a:xfrm>
          <a:prstGeom prst="rect">
            <a:avLst/>
          </a:prstGeom>
          <a:solidFill>
            <a:srgbClr val="FBF1A9"/>
          </a:solidFill>
          <a:ln w="9525">
            <a:solidFill>
              <a:srgbClr val="E7D4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01600" bIns="101600"/>
          <a:lstStyle/>
          <a:p>
            <a:pPr algn="l">
              <a:lnSpc>
                <a:spcPct val="108000"/>
              </a:lnSpc>
            </a:pPr>
            <a:r>
              <a:rPr sz="1100" b="1" i="0">
                <a:solidFill>
                  <a:srgbClr val="23272B"/>
                </a:solidFill>
                <a:latin typeface="Calibri"/>
                <a:ea typeface="Microsoft JhengHei"/>
                <a:cs typeface="Calibri"/>
              </a:rPr>
              <a:t>總規模：4 環境 × 6 條件 × 5 種子</a:t>
            </a:r>
          </a:p>
          <a:p>
            <a:pPr algn="l">
              <a:lnSpc>
                <a:spcPct val="108000"/>
              </a:lnSpc>
            </a:pPr>
            <a:r>
              <a:rPr sz="1250" b="1" i="0">
                <a:solidFill>
                  <a:srgbClr val="C4463D"/>
                </a:solidFill>
                <a:latin typeface="Calibri"/>
                <a:ea typeface="Microsoft JhengHei"/>
                <a:cs typeface="Calibri"/>
              </a:rPr>
              <a:t>= 120 次完整訓練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6928" y="646480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8C9298"/>
                </a:solidFill>
                <a:latin typeface="Calibri"/>
                <a:ea typeface="Microsoft JhengHei"/>
                <a:cs typeface="Calibri"/>
              </a:rPr>
              <a:t>Hermes-DQN ・ 國立中興大學 資訊管理學研究所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789920" y="646480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C9298"/>
                </a:solidFill>
                <a:latin typeface="Calibri"/>
                <a:ea typeface="Microsoft JhengHei"/>
                <a:cs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188720"/>
            <a:ext cx="3291840" cy="4206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0" b="1" i="0">
                <a:solidFill>
                  <a:srgbClr val="EAEDF0"/>
                </a:solidFill>
                <a:latin typeface="Georgia"/>
                <a:ea typeface="Georgia"/>
                <a:cs typeface="Georgia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0" y="2468880"/>
            <a:ext cx="8229600" cy="10058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5000" b="0" i="0">
                <a:solidFill>
                  <a:srgbClr val="23272B"/>
                </a:solidFill>
                <a:latin typeface="Georgia"/>
                <a:ea typeface="Microsoft JhengHei"/>
                <a:cs typeface="Georgia"/>
              </a:rPr>
              <a:t>Simulation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46704" y="3611880"/>
            <a:ext cx="8229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465059"/>
                </a:solidFill>
                <a:latin typeface="Microsoft JhengHei"/>
                <a:ea typeface="Microsoft JhengHei"/>
                <a:cs typeface="Microsoft JhengHei"/>
              </a:rPr>
              <a:t>實驗設計與結果分析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3346704" y="3456432"/>
            <a:ext cx="1280160" cy="36576"/>
          </a:xfrm>
          <a:prstGeom prst="rect">
            <a:avLst/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512064"/>
            <a:ext cx="109728" cy="365760"/>
          </a:xfrm>
          <a:prstGeom prst="rect">
            <a:avLst/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57200"/>
            <a:ext cx="8778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00" b="1" i="0">
                <a:solidFill>
                  <a:srgbClr val="23272B"/>
                </a:solidFill>
                <a:latin typeface="Georgia"/>
                <a:ea typeface="Microsoft JhengHei"/>
                <a:cs typeface="Georgia"/>
              </a:rPr>
              <a:t>實驗設定 (Setup)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41280" y="512064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465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Setup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170432"/>
            <a:ext cx="11055096" cy="0"/>
          </a:xfrm>
          <a:prstGeom prst="line">
            <a:avLst/>
          </a:prstGeom>
          <a:ln w="12700">
            <a:solidFill>
              <a:srgbClr val="DDE1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32588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3272B"/>
                </a:solidFill>
                <a:latin typeface="Microsoft JhengHei"/>
                <a:ea typeface="Microsoft JhengHei"/>
                <a:cs typeface="Microsoft JhengHei"/>
              </a:rPr>
              <a:t>四個古典控制環境（涵蓋獎勵密度兩端）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1691640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8C9298"/>
                </a:solidFill>
                <a:latin typeface="Microsoft JhengHei"/>
                <a:ea typeface="Microsoft JhengHei"/>
                <a:cs typeface="Microsoft JhengHei"/>
              </a:rPr>
              <a:t>環境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50591" y="169164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8C9298"/>
                </a:solidFill>
                <a:latin typeface="Microsoft JhengHei"/>
                <a:ea typeface="Microsoft JhengHei"/>
                <a:cs typeface="Microsoft JhengHei"/>
              </a:rPr>
              <a:t>密度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39312" y="16916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8C9298"/>
                </a:solidFill>
                <a:latin typeface="Microsoft JhengHei"/>
                <a:ea typeface="Microsoft JhengHei"/>
                <a:cs typeface="Microsoft JhengHei"/>
              </a:rPr>
              <a:t>觀測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16916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8C9298"/>
                </a:solidFill>
                <a:latin typeface="Microsoft JhengHei"/>
                <a:ea typeface="Microsoft JhengHei"/>
                <a:cs typeface="Microsoft JhengHei"/>
              </a:rPr>
              <a:t>動作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68112" y="16916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8C9298"/>
                </a:solidFill>
                <a:latin typeface="Microsoft JhengHei"/>
                <a:ea typeface="Microsoft JhengHei"/>
                <a:cs typeface="Microsoft JhengHei"/>
              </a:rPr>
              <a:t>解題門檻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40080" y="2468880"/>
            <a:ext cx="6035040" cy="0"/>
          </a:xfrm>
          <a:prstGeom prst="line">
            <a:avLst/>
          </a:prstGeom>
          <a:ln w="9525">
            <a:solidFill>
              <a:srgbClr val="DDE1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67512" y="2084832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23272B"/>
                </a:solidFill>
                <a:latin typeface="Calibri"/>
                <a:ea typeface="Microsoft JhengHei"/>
                <a:cs typeface="Calibri"/>
              </a:rPr>
              <a:t>LunarLander-v3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50591" y="2084832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C44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密集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9312" y="210312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465059"/>
                </a:solidFill>
                <a:latin typeface="Calibri"/>
                <a:ea typeface="Microsoft JhengHei"/>
                <a:cs typeface="Calibri"/>
              </a:rPr>
              <a:t>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210312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465059"/>
                </a:solidFill>
                <a:latin typeface="Calibri"/>
                <a:ea typeface="Microsoft JhengHei"/>
                <a:cs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68112" y="21031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465059"/>
                </a:solidFill>
                <a:latin typeface="Calibri"/>
                <a:ea typeface="Microsoft JhengHei"/>
                <a:cs typeface="Calibri"/>
              </a:rPr>
              <a:t>mean ≥ 200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40080" y="3035808"/>
            <a:ext cx="6035040" cy="0"/>
          </a:xfrm>
          <a:prstGeom prst="line">
            <a:avLst/>
          </a:prstGeom>
          <a:ln w="9525">
            <a:solidFill>
              <a:srgbClr val="DDE1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67512" y="2651760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23272B"/>
                </a:solidFill>
                <a:latin typeface="Calibri"/>
                <a:ea typeface="Microsoft JhengHei"/>
                <a:cs typeface="Calibri"/>
              </a:rPr>
              <a:t>CartPole-v1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450591" y="265176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稀疏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39312" y="2670048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465059"/>
                </a:solidFill>
                <a:latin typeface="Calibri"/>
                <a:ea typeface="Microsoft JhengHei"/>
                <a:cs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53712" y="2670048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465059"/>
                </a:solidFill>
                <a:latin typeface="Calibri"/>
                <a:ea typeface="Microsoft JhengHei"/>
                <a:cs typeface="Calibr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68112" y="2670048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465059"/>
                </a:solidFill>
                <a:latin typeface="Calibri"/>
                <a:ea typeface="Microsoft JhengHei"/>
                <a:cs typeface="Calibri"/>
              </a:rPr>
              <a:t>mean ≥ 475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40080" y="3602736"/>
            <a:ext cx="6035040" cy="0"/>
          </a:xfrm>
          <a:prstGeom prst="line">
            <a:avLst/>
          </a:prstGeom>
          <a:ln w="9525">
            <a:solidFill>
              <a:srgbClr val="DDE1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67512" y="3218688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23272B"/>
                </a:solidFill>
                <a:latin typeface="Calibri"/>
                <a:ea typeface="Microsoft JhengHei"/>
                <a:cs typeface="Calibri"/>
              </a:rPr>
              <a:t>MountainCar-v0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450591" y="3218688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稀疏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39312" y="3236976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465059"/>
                </a:solidFill>
                <a:latin typeface="Calibri"/>
                <a:ea typeface="Microsoft JhengHei"/>
                <a:cs typeface="Calibri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53712" y="3236976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465059"/>
                </a:solidFill>
                <a:latin typeface="Calibri"/>
                <a:ea typeface="Microsoft JhengHei"/>
                <a:cs typeface="Calibr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68112" y="3236976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465059"/>
                </a:solidFill>
                <a:latin typeface="Calibri"/>
                <a:ea typeface="Microsoft JhengHei"/>
                <a:cs typeface="Calibri"/>
              </a:rPr>
              <a:t>mean ≥ −110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40080" y="4169664"/>
            <a:ext cx="6035040" cy="0"/>
          </a:xfrm>
          <a:prstGeom prst="line">
            <a:avLst/>
          </a:prstGeom>
          <a:ln w="9525">
            <a:solidFill>
              <a:srgbClr val="DDE1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67512" y="3785616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23272B"/>
                </a:solidFill>
                <a:latin typeface="Calibri"/>
                <a:ea typeface="Microsoft JhengHei"/>
                <a:cs typeface="Calibri"/>
              </a:rPr>
              <a:t>Acrobot-v1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450591" y="3785616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稀疏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39312" y="3803904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465059"/>
                </a:solidFill>
                <a:latin typeface="Calibri"/>
                <a:ea typeface="Microsoft JhengHei"/>
                <a:cs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53712" y="3803904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465059"/>
                </a:solidFill>
                <a:latin typeface="Calibri"/>
                <a:ea typeface="Microsoft JhengHei"/>
                <a:cs typeface="Calibri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68112" y="3803904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465059"/>
                </a:solidFill>
                <a:latin typeface="Calibri"/>
                <a:ea typeface="Microsoft JhengHei"/>
                <a:cs typeface="Calibri"/>
              </a:rPr>
              <a:t>mean ≥ −100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040880" y="1325880"/>
            <a:ext cx="4480560" cy="4069080"/>
          </a:xfrm>
          <a:prstGeom prst="roundRect">
            <a:avLst>
              <a:gd name="adj" fmla="val 5000"/>
            </a:avLst>
          </a:prstGeom>
          <a:solidFill>
            <a:srgbClr val="EAEDF0"/>
          </a:solidFill>
          <a:ln w="12700">
            <a:solidFill>
              <a:srgbClr val="DD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269480" y="1554480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3272B"/>
                </a:solidFill>
                <a:latin typeface="Microsoft JhengHei"/>
                <a:ea typeface="Microsoft JhengHei"/>
                <a:cs typeface="Microsoft JhengHei"/>
              </a:rPr>
              <a:t>訓練配置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69480" y="2011680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F6FA8"/>
                </a:solidFill>
                <a:latin typeface="Microsoft JhengHei"/>
                <a:ea typeface="Microsoft JhengHei"/>
                <a:cs typeface="Microsoft JhengHei"/>
              </a:rPr>
              <a:t>硬體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66760" y="2011680"/>
            <a:ext cx="3063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65059"/>
                </a:solidFill>
                <a:latin typeface="Calibri"/>
                <a:ea typeface="Microsoft JhengHei"/>
                <a:cs typeface="Calibri"/>
              </a:rPr>
              <a:t>RTX 4090 ×1 · Win11 · CUDA 12.1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69480" y="2395728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F6FA8"/>
                </a:solidFill>
                <a:latin typeface="Microsoft JhengHei"/>
                <a:ea typeface="Microsoft JhengHei"/>
                <a:cs typeface="Microsoft JhengHei"/>
              </a:rPr>
              <a:t>環境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66760" y="2395728"/>
            <a:ext cx="3063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65059"/>
                </a:solidFill>
                <a:latin typeface="Calibri"/>
                <a:ea typeface="Microsoft JhengHei"/>
                <a:cs typeface="Calibri"/>
              </a:rPr>
              <a:t>Python 3.11 · PyTorch 2.5.1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69480" y="2779776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F6FA8"/>
                </a:solidFill>
                <a:latin typeface="Microsoft JhengHei"/>
                <a:ea typeface="Microsoft JhengHei"/>
                <a:cs typeface="Microsoft JhengHei"/>
              </a:rPr>
              <a:t>DQN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66760" y="2779776"/>
            <a:ext cx="3063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65059"/>
                </a:solidFill>
                <a:latin typeface="Calibri"/>
                <a:ea typeface="Microsoft JhengHei"/>
                <a:cs typeface="Calibri"/>
              </a:rPr>
              <a:t>64×64 MLP · lr=5e-4 · γ=0.99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66760" y="3163824"/>
            <a:ext cx="3063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65059"/>
                </a:solidFill>
                <a:latin typeface="Calibri"/>
                <a:ea typeface="Microsoft JhengHei"/>
                <a:cs typeface="Calibri"/>
              </a:rPr>
              <a:t>batch=64 · replay 100K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66760" y="3547872"/>
            <a:ext cx="3063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65059"/>
                </a:solidFill>
                <a:latin typeface="Calibri"/>
                <a:ea typeface="Microsoft JhengHei"/>
                <a:cs typeface="Calibri"/>
              </a:rPr>
              <a:t>ε 於 50K 步線性衰減 → 0.01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66760" y="3931920"/>
            <a:ext cx="3063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65059"/>
                </a:solidFill>
                <a:latin typeface="Calibri"/>
                <a:ea typeface="Microsoft JhengHei"/>
                <a:cs typeface="Calibri"/>
              </a:rPr>
              <a:t>目標網路每 1000 步更新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69480" y="4315968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F6FA8"/>
                </a:solidFill>
                <a:latin typeface="Microsoft JhengHei"/>
                <a:ea typeface="Microsoft JhengHei"/>
                <a:cs typeface="Microsoft JhengHei"/>
              </a:rPr>
              <a:t>訓練種子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66760" y="4315968"/>
            <a:ext cx="3063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65059"/>
                </a:solidFill>
                <a:latin typeface="Calibri"/>
                <a:ea typeface="Microsoft JhengHei"/>
                <a:cs typeface="Calibri"/>
              </a:rPr>
              <a:t>42, 43, 44, 45, 46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69480" y="4700016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F6FA8"/>
                </a:solidFill>
                <a:latin typeface="Microsoft JhengHei"/>
                <a:ea typeface="Microsoft JhengHei"/>
                <a:cs typeface="Microsoft JhengHei"/>
              </a:rPr>
              <a:t>評估種子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66760" y="4700016"/>
            <a:ext cx="3063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65059"/>
                </a:solidFill>
                <a:latin typeface="Calibri"/>
                <a:ea typeface="Microsoft JhengHei"/>
                <a:cs typeface="Calibri"/>
              </a:rPr>
              <a:t>10000–10099（與訓練互斥）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69480" y="5084064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F6FA8"/>
                </a:solidFill>
                <a:latin typeface="Microsoft JhengHei"/>
                <a:ea typeface="Microsoft JhengHei"/>
                <a:cs typeface="Microsoft JhengHei"/>
              </a:rPr>
              <a:t>總訓練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66760" y="5084064"/>
            <a:ext cx="3063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65059"/>
                </a:solidFill>
                <a:latin typeface="Calibri"/>
                <a:ea typeface="Microsoft JhengHei"/>
                <a:cs typeface="Calibri"/>
              </a:rPr>
              <a:t>120 次 = 4×6×5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66928" y="646480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8C9298"/>
                </a:solidFill>
                <a:latin typeface="Calibri"/>
                <a:ea typeface="Microsoft JhengHei"/>
                <a:cs typeface="Calibri"/>
              </a:rPr>
              <a:t>Hermes-DQN ・ 國立中興大學 資訊管理學研究所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789920" y="646480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C9298"/>
                </a:solidFill>
                <a:latin typeface="Calibri"/>
                <a:ea typeface="Microsoft JhengHei"/>
                <a:cs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512064"/>
            <a:ext cx="109728" cy="365760"/>
          </a:xfrm>
          <a:prstGeom prst="rect">
            <a:avLst/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57200"/>
            <a:ext cx="8778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00" b="1" i="0">
                <a:solidFill>
                  <a:srgbClr val="23272B"/>
                </a:solidFill>
                <a:latin typeface="Georgia"/>
                <a:ea typeface="Microsoft JhengHei"/>
                <a:cs typeface="Georgia"/>
              </a:rPr>
              <a:t>評估指標與統計方法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84080" y="512064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465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Methodology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170432"/>
            <a:ext cx="11055096" cy="0"/>
          </a:xfrm>
          <a:prstGeom prst="line">
            <a:avLst/>
          </a:prstGeom>
          <a:ln w="12700">
            <a:solidFill>
              <a:srgbClr val="DDE1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40080" y="1417320"/>
            <a:ext cx="10881360" cy="1143000"/>
          </a:xfrm>
          <a:prstGeom prst="roundRect">
            <a:avLst>
              <a:gd name="adj" fmla="val 6000"/>
            </a:avLst>
          </a:prstGeom>
          <a:solidFill>
            <a:srgbClr val="232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BF1A9"/>
                </a:solidFill>
                <a:latin typeface="Calibri"/>
                <a:ea typeface="Microsoft JhengHei"/>
                <a:cs typeface="Calibri"/>
              </a:rPr>
              <a:t>主要指標：env_native_mean</a:t>
            </a:r>
          </a:p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以「環境原生（未經塑形）獎勵」在 100 個未見種子 (10000–10099) 上的平均回報——這是跨條件唯一公平的衡量基準。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788920"/>
            <a:ext cx="3502152" cy="137160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 w="12700">
            <a:solidFill>
              <a:srgbClr val="C6D9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3F6FA8"/>
                </a:solidFill>
                <a:latin typeface="Calibri"/>
                <a:ea typeface="Microsoft JhengHei"/>
                <a:cs typeface="Calibri"/>
              </a:rPr>
              <a:t>檢定方法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23272B"/>
                </a:solidFill>
                <a:latin typeface="Calibri"/>
                <a:ea typeface="Microsoft JhengHei"/>
                <a:cs typeface="Calibri"/>
              </a:rPr>
              <a:t>雙尾 Mann-Whitney U
(α = 0.05，非參數、適合 n=5)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5112" y="2788920"/>
            <a:ext cx="3502152" cy="1371600"/>
          </a:xfrm>
          <a:prstGeom prst="roundRect">
            <a:avLst>
              <a:gd name="adj" fmla="val 6000"/>
            </a:avLst>
          </a:prstGeom>
          <a:solidFill>
            <a:srgbClr val="E9F4EC"/>
          </a:solidFill>
          <a:ln w="12700">
            <a:solidFill>
              <a:srgbClr val="BEE2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2E8B57"/>
                </a:solidFill>
                <a:latin typeface="Calibri"/>
                <a:ea typeface="Microsoft JhengHei"/>
                <a:cs typeface="Calibri"/>
              </a:rPr>
              <a:t>信賴區間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23272B"/>
                </a:solidFill>
                <a:latin typeface="Calibri"/>
                <a:ea typeface="Microsoft JhengHei"/>
                <a:cs typeface="Calibri"/>
              </a:rPr>
              <a:t>Bootstrap 5000 次再抽樣
95% 信賴水準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10144" y="2788920"/>
            <a:ext cx="3502152" cy="1371600"/>
          </a:xfrm>
          <a:prstGeom prst="roundRect">
            <a:avLst>
              <a:gd name="adj" fmla="val 6000"/>
            </a:avLst>
          </a:prstGeom>
          <a:solidFill>
            <a:srgbClr val="FBF1A9"/>
          </a:solidFill>
          <a:ln w="12700">
            <a:solidFill>
              <a:srgbClr val="E7D4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D99A2B"/>
                </a:solidFill>
                <a:latin typeface="Calibri"/>
                <a:ea typeface="Microsoft JhengHei"/>
                <a:cs typeface="Calibri"/>
              </a:rPr>
              <a:t>「勝出」三條件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23272B"/>
                </a:solidFill>
                <a:latin typeface="Calibri"/>
                <a:ea typeface="Microsoft JhengHei"/>
                <a:cs typeface="Calibri"/>
              </a:rPr>
              <a:t>p&lt;0.05、|Δ|/|base|≥10%、
信賴區間不重疊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389120"/>
            <a:ext cx="10881360" cy="1234440"/>
          </a:xfrm>
          <a:prstGeom prst="roundRect">
            <a:avLst>
              <a:gd name="adj" fmla="val 6000"/>
            </a:avLst>
          </a:prstGeom>
          <a:solidFill>
            <a:srgbClr val="FBEAE8"/>
          </a:solidFill>
          <a:ln w="12700">
            <a:solidFill>
              <a:srgbClr val="F0C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C4463D"/>
                </a:solidFill>
                <a:latin typeface="Calibri"/>
                <a:ea typeface="Microsoft JhengHei"/>
                <a:cs typeface="Calibri"/>
              </a:rPr>
              <a:t>統計力限制（誠實揭露）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23272B"/>
                </a:solidFill>
                <a:latin typeface="Calibri"/>
                <a:ea typeface="Microsoft JhengHei"/>
                <a:cs typeface="Calibri"/>
              </a:rPr>
              <a:t>n=5 僅對「大效應」(Cohen's d ≥ 1) 具穩定偵測力；中等效應在此樣本下難以定論。種子全數保留、不剔除崩潰種子（如 Acrobot 之 B0），故其變異與信賴區間被膨脹。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6480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8C9298"/>
                </a:solidFill>
                <a:latin typeface="Calibri"/>
                <a:ea typeface="Microsoft JhengHei"/>
                <a:cs typeface="Calibri"/>
              </a:rPr>
              <a:t>Hermes-DQN ・ 國立中興大學 資訊管理學研究所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6480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C9298"/>
                </a:solidFill>
                <a:latin typeface="Calibri"/>
                <a:ea typeface="Microsoft JhengHei"/>
                <a:cs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512064"/>
            <a:ext cx="109728" cy="365760"/>
          </a:xfrm>
          <a:prstGeom prst="rect">
            <a:avLst/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57200"/>
            <a:ext cx="8778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00" b="1" i="0">
                <a:solidFill>
                  <a:srgbClr val="23272B"/>
                </a:solidFill>
                <a:latin typeface="Georgia"/>
                <a:ea typeface="Microsoft JhengHei"/>
                <a:cs typeface="Georgia"/>
              </a:rPr>
              <a:t>Part 1 結果：稀疏「大勝」、密集「反轉」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509759" y="512064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465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Part 1 · Results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170432"/>
            <a:ext cx="11055096" cy="0"/>
          </a:xfrm>
          <a:prstGeom prst="line">
            <a:avLst/>
          </a:prstGeom>
          <a:ln w="12700">
            <a:solidFill>
              <a:srgbClr val="DDE1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" y="1417320"/>
          <a:ext cx="676656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5715000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8C9298"/>
                </a:solidFill>
                <a:latin typeface="Calibri"/>
                <a:ea typeface="Microsoft JhengHei"/>
                <a:cs typeface="Calibri"/>
              </a:rPr>
              <a:t>B3-hermes-full vs B0-env-native（p：1.00 / 0.0317 / 0.0112 / 0.0952）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1554480"/>
            <a:ext cx="3931920" cy="1783080"/>
          </a:xfrm>
          <a:prstGeom prst="roundRect">
            <a:avLst>
              <a:gd name="adj" fmla="val 6000"/>
            </a:avLst>
          </a:prstGeom>
          <a:solidFill>
            <a:srgbClr val="E9F4EC"/>
          </a:solidFill>
          <a:ln w="12700">
            <a:solidFill>
              <a:srgbClr val="BEE2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2E8B57"/>
                </a:solidFill>
                <a:latin typeface="Calibri"/>
                <a:ea typeface="Microsoft JhengHei"/>
                <a:cs typeface="Calibri"/>
              </a:rPr>
              <a:t>稀疏環境：顯著正向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23272B"/>
                </a:solidFill>
                <a:latin typeface="Calibri"/>
                <a:ea typeface="Microsoft JhengHei"/>
                <a:cs typeface="Calibri"/>
              </a:rPr>
              <a:t>CartPole +116% (p=0.0317)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23272B"/>
                </a:solidFill>
                <a:latin typeface="Calibri"/>
                <a:ea typeface="Microsoft JhengHei"/>
                <a:cs typeface="Calibri"/>
              </a:rPr>
              <a:t>MountainCar +31.5% (p=0.0112)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465059"/>
                </a:solidFill>
                <a:latin typeface="Calibri"/>
                <a:ea typeface="Microsoft JhengHei"/>
                <a:cs typeface="Calibri"/>
              </a:rPr>
              <a:t>→ 原生訊號微弱時，LLM 解鎖學習瓶頸。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3520440"/>
            <a:ext cx="3931920" cy="2103120"/>
          </a:xfrm>
          <a:prstGeom prst="roundRect">
            <a:avLst>
              <a:gd name="adj" fmla="val 6000"/>
            </a:avLst>
          </a:prstGeom>
          <a:solidFill>
            <a:srgbClr val="FBEAE8"/>
          </a:solidFill>
          <a:ln w="12700">
            <a:solidFill>
              <a:srgbClr val="F0C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C4463D"/>
                </a:solidFill>
                <a:latin typeface="Calibri"/>
                <a:ea typeface="Microsoft JhengHei"/>
                <a:cs typeface="Calibri"/>
              </a:rPr>
              <a:t>密集環境：記憶帶來傷害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23272B"/>
                </a:solidFill>
                <a:latin typeface="Calibri"/>
                <a:ea typeface="Microsoft JhengHei"/>
                <a:cs typeface="Calibri"/>
              </a:rPr>
              <a:t>LunarLander：相對「無記憶版」</a:t>
            </a:r>
          </a:p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C4463D"/>
                </a:solidFill>
                <a:latin typeface="Calibri"/>
                <a:ea typeface="Microsoft JhengHei"/>
                <a:cs typeface="Calibri"/>
              </a:rPr>
              <a:t>衰退 −38.3% (p=0.0317)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465059"/>
                </a:solidFill>
                <a:latin typeface="Calibri"/>
                <a:ea typeface="Microsoft JhengHei"/>
                <a:cs typeface="Calibri"/>
              </a:rPr>
              <a:t>→ 原生獎勵已富梯度時，跨迭代記憶反而累積衝突 (Additive Shaping Conflict)。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6480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8C9298"/>
                </a:solidFill>
                <a:latin typeface="Calibri"/>
                <a:ea typeface="Microsoft JhengHei"/>
                <a:cs typeface="Calibri"/>
              </a:rPr>
              <a:t>Hermes-DQN ・ 國立中興大學 資訊管理學研究所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6480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C9298"/>
                </a:solidFill>
                <a:latin typeface="Calibri"/>
                <a:ea typeface="Microsoft JhengHei"/>
                <a:cs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512064"/>
            <a:ext cx="109728" cy="365760"/>
          </a:xfrm>
          <a:prstGeom prst="rect">
            <a:avLst/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57200"/>
            <a:ext cx="8778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00" b="1" i="0">
                <a:solidFill>
                  <a:srgbClr val="23272B"/>
                </a:solidFill>
                <a:latin typeface="Georgia"/>
                <a:ea typeface="Microsoft JhengHei"/>
                <a:cs typeface="Georgia"/>
              </a:rPr>
              <a:t>解鎖極限：稀疏環境下的獎勵塑形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0" y="512064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Sparse Win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170432"/>
            <a:ext cx="11055096" cy="0"/>
          </a:xfrm>
          <a:prstGeom prst="line">
            <a:avLst/>
          </a:prstGeom>
          <a:ln w="12700">
            <a:solidFill>
              <a:srgbClr val="DDE1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40080" y="1508760"/>
            <a:ext cx="5349240" cy="187451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D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3272B"/>
                </a:solidFill>
                <a:latin typeface="Microsoft JhengHei"/>
                <a:ea typeface="Microsoft JhengHei"/>
                <a:cs typeface="Microsoft JhengHei"/>
              </a:rPr>
              <a:t>CartPole-v1（存活挑戰）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C9298"/>
                </a:solidFill>
                <a:latin typeface="Microsoft JhengHei"/>
                <a:ea typeface="Microsoft JhengHei"/>
                <a:cs typeface="Microsoft JhengHei"/>
              </a:rPr>
              <a:t>原生 DQN (B0)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2316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8C9298"/>
                </a:solidFill>
                <a:latin typeface="Georgia"/>
                <a:ea typeface="Microsoft JhengHei"/>
                <a:cs typeface="Georgia"/>
              </a:rPr>
              <a:t>154.8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697480" y="2697480"/>
            <a:ext cx="548640" cy="0"/>
          </a:xfrm>
          <a:prstGeom prst="line">
            <a:avLst/>
          </a:prstGeom>
          <a:ln w="31750">
            <a:solidFill>
              <a:srgbClr val="2E8B57"/>
            </a:solidFill>
            <a:headEnd type="none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383280" y="214884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E8B57"/>
                </a:solidFill>
                <a:latin typeface="Microsoft JhengHei"/>
                <a:ea typeface="Microsoft JhengHei"/>
                <a:cs typeface="Microsoft JhengHei"/>
              </a:rPr>
              <a:t>Hermes-full (B3)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42316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2E8B57"/>
                </a:solidFill>
                <a:latin typeface="Georgia"/>
                <a:ea typeface="Microsoft JhengHei"/>
                <a:cs typeface="Georgia"/>
              </a:rPr>
              <a:t>334.4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26280" y="306324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+116%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03580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65059"/>
                </a:solidFill>
                <a:latin typeface="Microsoft JhengHei"/>
                <a:ea typeface="Microsoft JhengHei"/>
                <a:cs typeface="Microsoft JhengHei"/>
              </a:rPr>
              <a:t>效能翻倍，解鎖原生無法解的任務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611880"/>
            <a:ext cx="5349240" cy="187451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D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749039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3272B"/>
                </a:solidFill>
                <a:latin typeface="Microsoft JhengHei"/>
                <a:ea typeface="Microsoft JhengHei"/>
                <a:cs typeface="Microsoft JhengHei"/>
              </a:rPr>
              <a:t>MountainCar-v0（動量挑戰）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25196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C9298"/>
                </a:solidFill>
                <a:latin typeface="Microsoft JhengHei"/>
                <a:ea typeface="Microsoft JhengHei"/>
                <a:cs typeface="Microsoft JhengHei"/>
              </a:rPr>
              <a:t>原生 DQN (B0)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52628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8C9298"/>
                </a:solidFill>
                <a:latin typeface="Georgia"/>
                <a:ea typeface="Microsoft JhengHei"/>
                <a:cs typeface="Georgia"/>
              </a:rPr>
              <a:t>−193.4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788920" y="4800600"/>
            <a:ext cx="548640" cy="0"/>
          </a:xfrm>
          <a:prstGeom prst="line">
            <a:avLst/>
          </a:prstGeom>
          <a:ln w="31750">
            <a:solidFill>
              <a:srgbClr val="2E8B57"/>
            </a:solidFill>
            <a:headEnd type="none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474720" y="425196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E8B57"/>
                </a:solidFill>
                <a:latin typeface="Microsoft JhengHei"/>
                <a:ea typeface="Microsoft JhengHei"/>
                <a:cs typeface="Microsoft JhengHei"/>
              </a:rPr>
              <a:t>Hermes-full (B3)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452628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2E8B57"/>
                </a:solidFill>
                <a:latin typeface="Georgia"/>
                <a:ea typeface="Microsoft JhengHei"/>
                <a:cs typeface="Georgia"/>
              </a:rPr>
              <a:t>−132.5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0" y="512064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+31.5%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138928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65059"/>
                </a:solidFill>
                <a:latin typeface="Microsoft JhengHei"/>
                <a:ea typeface="Microsoft JhengHei"/>
                <a:cs typeface="Microsoft JhengHei"/>
              </a:rPr>
              <a:t>五個種子一致收斂（std=3.08）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1508760"/>
            <a:ext cx="5257800" cy="3977639"/>
          </a:xfrm>
          <a:prstGeom prst="roundRect">
            <a:avLst>
              <a:gd name="adj" fmla="val 4000"/>
            </a:avLst>
          </a:prstGeom>
          <a:solidFill>
            <a:srgbClr val="E9F4EC"/>
          </a:solidFill>
          <a:ln w="12700">
            <a:solidFill>
              <a:srgbClr val="BEE2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0800" rIns="50800" tIns="50800" bIns="50800"/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500" b="1" i="0">
                <a:solidFill>
                  <a:srgbClr val="2E8B57"/>
                </a:solidFill>
                <a:latin typeface="Calibri"/>
                <a:ea typeface="Microsoft JhengHei"/>
                <a:cs typeface="Calibri"/>
              </a:rPr>
              <a:t>為什麼稀疏環境會大勝？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1" i="0">
                <a:solidFill>
                  <a:srgbClr val="23272B"/>
                </a:solidFill>
                <a:latin typeface="Calibri"/>
                <a:ea typeface="Microsoft JhengHei"/>
                <a:cs typeface="Calibri"/>
              </a:rPr>
              <a:t>原生獎勵幾乎不含學習訊號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200" b="0" i="0">
                <a:solidFill>
                  <a:srgbClr val="465059"/>
                </a:solidFill>
                <a:latin typeface="Calibri"/>
                <a:ea typeface="Microsoft JhengHei"/>
                <a:cs typeface="Calibri"/>
              </a:rPr>
              <a:t>（僅二元存活 / 固定時間懲罰），原生 DQN 在預算內幾乎解不出題。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1" i="0">
                <a:solidFill>
                  <a:srgbClr val="23272B"/>
                </a:solidFill>
                <a:latin typeface="Calibri"/>
                <a:ea typeface="Microsoft JhengHei"/>
                <a:cs typeface="Calibri"/>
              </a:rPr>
              <a:t>LLM 寫出的塑形 = 唯一明確子目標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200" b="0" i="0">
                <a:solidFill>
                  <a:srgbClr val="465059"/>
                </a:solidFill>
                <a:latin typeface="Calibri"/>
                <a:ea typeface="Microsoft JhengHei"/>
                <a:cs typeface="Calibri"/>
              </a:rPr>
              <a:t>MountainCar 上 Gemma 寫出「每步 +0.5 動量」，媲美經典文獻的人類專家塑形。</a:t>
            </a:r>
          </a:p>
          <a:p>
            <a:pPr algn="l">
              <a:lnSpc>
                <a:spcPct val="120000"/>
              </a:lnSpc>
            </a:pPr>
            <a:r>
              <a:rPr sz="1150" b="1" i="0">
                <a:solidFill>
                  <a:srgbClr val="C4463D"/>
                </a:solidFill>
                <a:latin typeface="Calibri"/>
                <a:ea typeface="Microsoft JhengHei"/>
                <a:cs typeface="Calibri"/>
              </a:rPr>
              <a:t>B0 成功率：CartPole 0% · MountainCar 0% · Acrobot 62%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46480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8C9298"/>
                </a:solidFill>
                <a:latin typeface="Calibri"/>
                <a:ea typeface="Microsoft JhengHei"/>
                <a:cs typeface="Calibri"/>
              </a:rPr>
              <a:t>Hermes-DQN ・ 國立中興大學 資訊管理學研究所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0" y="646480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C9298"/>
                </a:solidFill>
                <a:latin typeface="Calibri"/>
                <a:ea typeface="Microsoft JhengHei"/>
                <a:cs typeface="Calibr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512064"/>
            <a:ext cx="109728" cy="365760"/>
          </a:xfrm>
          <a:prstGeom prst="rect">
            <a:avLst/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57200"/>
            <a:ext cx="8778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00" b="1" i="0">
                <a:solidFill>
                  <a:srgbClr val="23272B"/>
                </a:solidFill>
                <a:latin typeface="Georgia"/>
                <a:ea typeface="Microsoft JhengHei"/>
                <a:cs typeface="Georgia"/>
              </a:rPr>
              <a:t>病理分析：變異性指紋 (Variance Signature)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0" y="512064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465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Variance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170432"/>
            <a:ext cx="11055096" cy="0"/>
          </a:xfrm>
          <a:prstGeom prst="line">
            <a:avLst/>
          </a:prstGeom>
          <a:ln w="12700">
            <a:solidFill>
              <a:srgbClr val="DDE1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" y="1417320"/>
          <a:ext cx="658368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5669280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8C9298"/>
                </a:solidFill>
                <a:latin typeface="Calibri"/>
                <a:ea typeface="Microsoft JhengHei"/>
                <a:cs typeface="Calibri"/>
              </a:rPr>
              <a:t>B3-hermes-full 各環境逐種子標準差（越低越穩定）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52360" y="1508760"/>
            <a:ext cx="4114800" cy="1554480"/>
          </a:xfrm>
          <a:prstGeom prst="roundRect">
            <a:avLst>
              <a:gd name="adj" fmla="val 6000"/>
            </a:avLst>
          </a:prstGeom>
          <a:solidFill>
            <a:srgbClr val="E9F4EC"/>
          </a:solidFill>
          <a:ln w="12700">
            <a:solidFill>
              <a:srgbClr val="BEE2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2E8B57"/>
                </a:solidFill>
                <a:latin typeface="Calibri"/>
                <a:ea typeface="Microsoft JhengHei"/>
                <a:cs typeface="Calibri"/>
              </a:rPr>
              <a:t>簡單物理 / 稀疏 → 極端穩定</a:t>
            </a:r>
          </a:p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23272B"/>
                </a:solidFill>
                <a:latin typeface="Calibri"/>
                <a:ea typeface="Microsoft JhengHei"/>
                <a:cs typeface="Calibri"/>
              </a:rPr>
              <a:t>MountainCar (3.08)、Acrobot (4.39) 緊湊收斂——單一明確目標，LLM 穩定收斂至近最佳唯一解。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3200400"/>
            <a:ext cx="4114800" cy="2423160"/>
          </a:xfrm>
          <a:prstGeom prst="roundRect">
            <a:avLst>
              <a:gd name="adj" fmla="val 6000"/>
            </a:avLst>
          </a:prstGeom>
          <a:solidFill>
            <a:srgbClr val="FBEAE8"/>
          </a:solidFill>
          <a:ln w="12700">
            <a:solidFill>
              <a:srgbClr val="F0C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C4463D"/>
                </a:solidFill>
                <a:latin typeface="Calibri"/>
                <a:ea typeface="Microsoft JhengHei"/>
                <a:cs typeface="Calibri"/>
              </a:rPr>
              <a:t>豐富塑形空間 → 高變異風險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 i="0">
                <a:solidFill>
                  <a:srgbClr val="23272B"/>
                </a:solidFill>
                <a:latin typeface="Calibri"/>
                <a:ea typeface="Microsoft JhengHei"/>
                <a:cs typeface="Calibri"/>
              </a:rPr>
              <a:t>LunarLander (91.40) 高低落差極大。</a:t>
            </a:r>
          </a:p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465059"/>
                </a:solidFill>
                <a:latin typeface="Calibri"/>
                <a:ea typeface="Microsoft JhengHei"/>
                <a:cs typeface="Calibri"/>
              </a:rPr>
              <a:t>致命的 seed_43（得分 11.6）：LLM 生成「重罰垂直速度」+「獎勵腳部接觸」的矛盾組合，</a:t>
            </a:r>
          </a:p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C4463D"/>
                </a:solidFill>
                <a:latin typeface="Calibri"/>
                <a:ea typeface="Microsoft JhengHei"/>
                <a:cs typeface="Calibri"/>
              </a:rPr>
              <a:t>智能體學會「貼地懸停但不降落」的退化策略。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6480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8C9298"/>
                </a:solidFill>
                <a:latin typeface="Calibri"/>
                <a:ea typeface="Microsoft JhengHei"/>
                <a:cs typeface="Calibri"/>
              </a:rPr>
              <a:t>Hermes-DQN ・ 國立中興大學 資訊管理學研究所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6480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C9298"/>
                </a:solidFill>
                <a:latin typeface="Calibri"/>
                <a:ea typeface="Microsoft JhengHei"/>
                <a:cs typeface="Calibr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512064"/>
            <a:ext cx="109728" cy="365760"/>
          </a:xfrm>
          <a:prstGeom prst="rect">
            <a:avLst/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57200"/>
            <a:ext cx="8778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00" b="1" i="0">
                <a:solidFill>
                  <a:srgbClr val="23272B"/>
                </a:solidFill>
                <a:latin typeface="Georgia"/>
                <a:ea typeface="Microsoft JhengHei"/>
                <a:cs typeface="Georgia"/>
              </a:rPr>
              <a:t>軌跡透視：記憶機制如何引發干擾？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75519" y="512064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465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Trajectories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170432"/>
            <a:ext cx="11055096" cy="0"/>
          </a:xfrm>
          <a:prstGeom prst="line">
            <a:avLst/>
          </a:prstGeom>
          <a:ln w="12700">
            <a:solidFill>
              <a:srgbClr val="DDE1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40080" y="1463040"/>
            <a:ext cx="60350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4463D"/>
                </a:solidFill>
                <a:latin typeface="Microsoft JhengHei"/>
                <a:ea typeface="Microsoft JhengHei"/>
                <a:cs typeface="Microsoft JhengHei"/>
              </a:rPr>
              <a:t>LunarLander-v3（密集獎勵）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88720" y="3154680"/>
            <a:ext cx="5212080" cy="0"/>
          </a:xfrm>
          <a:prstGeom prst="line">
            <a:avLst/>
          </a:prstGeom>
          <a:ln w="12700">
            <a:solidFill>
              <a:srgbClr val="DDE1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371600" y="1965960"/>
            <a:ext cx="822960" cy="228600"/>
          </a:xfrm>
          <a:prstGeom prst="line">
            <a:avLst/>
          </a:prstGeom>
          <a:ln w="28575">
            <a:solidFill>
              <a:srgbClr val="C4463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194560" y="1965960"/>
            <a:ext cx="822960" cy="1005840"/>
          </a:xfrm>
          <a:prstGeom prst="line">
            <a:avLst/>
          </a:prstGeom>
          <a:ln w="28575">
            <a:solidFill>
              <a:srgbClr val="C4463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3017520" y="1828800"/>
            <a:ext cx="822960" cy="1143000"/>
          </a:xfrm>
          <a:prstGeom prst="line">
            <a:avLst/>
          </a:prstGeom>
          <a:ln w="28575">
            <a:solidFill>
              <a:srgbClr val="C4463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840480" y="1828800"/>
            <a:ext cx="822960" cy="1188720"/>
          </a:xfrm>
          <a:prstGeom prst="line">
            <a:avLst/>
          </a:prstGeom>
          <a:ln w="28575">
            <a:solidFill>
              <a:srgbClr val="C4463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4663440" y="2057400"/>
            <a:ext cx="822960" cy="960120"/>
          </a:xfrm>
          <a:prstGeom prst="line">
            <a:avLst/>
          </a:prstGeom>
          <a:ln w="28575">
            <a:solidFill>
              <a:srgbClr val="C4463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486400" y="2057400"/>
            <a:ext cx="731520" cy="274320"/>
          </a:xfrm>
          <a:prstGeom prst="line">
            <a:avLst/>
          </a:prstGeom>
          <a:ln w="28575">
            <a:solidFill>
              <a:srgbClr val="C4463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846320" y="269748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4463D"/>
                </a:solidFill>
                <a:latin typeface="Microsoft JhengHei"/>
                <a:ea typeface="Microsoft JhengHei"/>
                <a:cs typeface="Microsoft JhengHei"/>
              </a:rPr>
              <a:t>混沌震盪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520440"/>
            <a:ext cx="60350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61188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E8B57"/>
                </a:solidFill>
                <a:latin typeface="Microsoft JhengHei"/>
                <a:ea typeface="Microsoft JhengHei"/>
                <a:cs typeface="Microsoft JhengHei"/>
              </a:rPr>
              <a:t>MountainCar-v0（稀疏獎勵）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188720" y="5166360"/>
            <a:ext cx="5212080" cy="0"/>
          </a:xfrm>
          <a:prstGeom prst="line">
            <a:avLst/>
          </a:prstGeom>
          <a:ln w="12700">
            <a:solidFill>
              <a:srgbClr val="DDE1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371600" y="4800600"/>
            <a:ext cx="822960" cy="228600"/>
          </a:xfrm>
          <a:prstGeom prst="line">
            <a:avLst/>
          </a:prstGeom>
          <a:ln w="28575">
            <a:solidFill>
              <a:srgbClr val="2E8B5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194560" y="4572000"/>
            <a:ext cx="822960" cy="228600"/>
          </a:xfrm>
          <a:prstGeom prst="line">
            <a:avLst/>
          </a:prstGeom>
          <a:ln w="28575">
            <a:solidFill>
              <a:srgbClr val="2E8B5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3017520" y="4370832"/>
            <a:ext cx="822960" cy="201168"/>
          </a:xfrm>
          <a:prstGeom prst="line">
            <a:avLst/>
          </a:prstGeom>
          <a:ln w="28575">
            <a:solidFill>
              <a:srgbClr val="2E8B5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3840480" y="4224528"/>
            <a:ext cx="822960" cy="146304"/>
          </a:xfrm>
          <a:prstGeom prst="line">
            <a:avLst/>
          </a:prstGeom>
          <a:ln w="28575">
            <a:solidFill>
              <a:srgbClr val="2E8B5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4663440" y="4133087"/>
            <a:ext cx="822960" cy="91441"/>
          </a:xfrm>
          <a:prstGeom prst="line">
            <a:avLst/>
          </a:prstGeom>
          <a:ln w="28575">
            <a:solidFill>
              <a:srgbClr val="2E8B5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5486400" y="4096512"/>
            <a:ext cx="731520" cy="36575"/>
          </a:xfrm>
          <a:prstGeom prst="line">
            <a:avLst/>
          </a:prstGeom>
          <a:ln w="28575">
            <a:solidFill>
              <a:srgbClr val="2E8B5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754880" y="411480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E8B57"/>
                </a:solidFill>
                <a:latin typeface="Microsoft JhengHei"/>
                <a:ea typeface="Microsoft JhengHei"/>
                <a:cs typeface="Microsoft JhengHei"/>
              </a:rPr>
              <a:t>單調收斂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0749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C9298"/>
                </a:solidFill>
                <a:latin typeface="Calibri"/>
                <a:ea typeface="Microsoft JhengHei"/>
                <a:cs typeface="Calibri"/>
              </a:rPr>
              <a:t>iteration 1 → 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0" y="1463040"/>
            <a:ext cx="4572000" cy="3886200"/>
          </a:xfrm>
          <a:prstGeom prst="roundRect">
            <a:avLst>
              <a:gd name="adj" fmla="val 4000"/>
            </a:avLst>
          </a:prstGeom>
          <a:solidFill>
            <a:srgbClr val="FBF1A9"/>
          </a:solidFill>
          <a:ln w="12700">
            <a:solidFill>
              <a:srgbClr val="E7D4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0800" rIns="50800" tIns="50800" bIns="50800"/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400" b="1" i="0">
                <a:solidFill>
                  <a:srgbClr val="D99A2B"/>
                </a:solidFill>
                <a:latin typeface="Calibri"/>
                <a:ea typeface="Microsoft JhengHei"/>
                <a:cs typeface="Calibri"/>
              </a:rPr>
              <a:t>關鍵詮釋</a:t>
            </a:r>
          </a:p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23272B"/>
                </a:solidFill>
                <a:latin typeface="Calibri"/>
                <a:ea typeface="Microsoft JhengHei"/>
                <a:cs typeface="Calibri"/>
              </a:rPr>
              <a:t>當原生獎勵已有強烈梯度時，</a:t>
            </a:r>
          </a:p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23272B"/>
                </a:solidFill>
                <a:latin typeface="Calibri"/>
                <a:ea typeface="Microsoft JhengHei"/>
                <a:cs typeface="Calibri"/>
              </a:rPr>
              <a:t>跨迭代記憶反而讓 LLM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400" b="1" i="0">
                <a:solidFill>
                  <a:srgbClr val="C4463D"/>
                </a:solidFill>
                <a:latin typeface="Calibri"/>
                <a:ea typeface="Microsoft JhengHei"/>
                <a:cs typeface="Calibri"/>
              </a:rPr>
              <a:t>累積了「衝突的干擾項」。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00" b="0" i="1">
                <a:solidFill>
                  <a:srgbClr val="465059"/>
                </a:solidFill>
                <a:latin typeface="Calibri"/>
                <a:ea typeface="Microsoft JhengHei"/>
                <a:cs typeface="Calibri"/>
              </a:rPr>
              <a:t>Additive Shaping Conflict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C9298"/>
                </a:solidFill>
                <a:latin typeface="Calibri"/>
                <a:ea typeface="Microsoft JhengHei"/>
                <a:cs typeface="Calibri"/>
              </a:rPr>
              <a:t>（示意圖：依論文圖 5 之軌跡型態繪製）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646480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8C9298"/>
                </a:solidFill>
                <a:latin typeface="Calibri"/>
                <a:ea typeface="Microsoft JhengHei"/>
                <a:cs typeface="Calibri"/>
              </a:rPr>
              <a:t>Hermes-DQN ・ 國立中興大學 資訊管理學研究所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6480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C9298"/>
                </a:solidFill>
                <a:latin typeface="Calibri"/>
                <a:ea typeface="Microsoft JhengHei"/>
                <a:cs typeface="Calibr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512064"/>
            <a:ext cx="109728" cy="365760"/>
          </a:xfrm>
          <a:prstGeom prst="rect">
            <a:avLst/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57200"/>
            <a:ext cx="8778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00" b="1" i="0">
                <a:solidFill>
                  <a:srgbClr val="23272B"/>
                </a:solidFill>
                <a:latin typeface="Georgia"/>
                <a:ea typeface="Microsoft JhengHei"/>
                <a:cs typeface="Georgia"/>
              </a:rPr>
              <a:t>Part 2 泛化驗證：這只是底層演算法的特例嗎？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49840" y="512064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465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Part 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170432"/>
            <a:ext cx="11055096" cy="0"/>
          </a:xfrm>
          <a:prstGeom prst="line">
            <a:avLst/>
          </a:prstGeom>
          <a:ln w="12700">
            <a:solidFill>
              <a:srgbClr val="DDE1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2801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465059"/>
                </a:solidFill>
                <a:latin typeface="Microsoft JhengHei"/>
                <a:ea typeface="Microsoft JhengHei"/>
                <a:cs typeface="Microsoft JhengHei"/>
              </a:rPr>
              <a:t>固定獎勵管線，僅切換 DQN 變體（vanilla / Double / Dueling）——Δ% = Hermes vs B0。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40080" y="1691640"/>
          <a:ext cx="7498079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321040" y="1691640"/>
            <a:ext cx="3200400" cy="4023360"/>
          </a:xfrm>
          <a:prstGeom prst="roundRect">
            <a:avLst>
              <a:gd name="adj" fmla="val 5000"/>
            </a:avLst>
          </a:prstGeom>
          <a:solidFill>
            <a:srgbClr val="EAEDF0"/>
          </a:solidFill>
          <a:ln w="12700">
            <a:solidFill>
              <a:srgbClr val="DD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0800" rIns="50800" tIns="50800" bIns="50800"/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400" b="1" i="0">
                <a:solidFill>
                  <a:srgbClr val="23272B"/>
                </a:solidFill>
                <a:latin typeface="Calibri"/>
                <a:ea typeface="Microsoft JhengHei"/>
                <a:cs typeface="Calibri"/>
              </a:rPr>
              <a:t>三項確認</a:t>
            </a:r>
          </a:p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23272B"/>
                </a:solidFill>
                <a:latin typeface="Calibri"/>
                <a:ea typeface="Microsoft JhengHei"/>
                <a:cs typeface="Calibri"/>
              </a:rPr>
              <a:t>① 稀疏勝、密集反轉的型態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00" b="0" i="0">
                <a:solidFill>
                  <a:srgbClr val="465059"/>
                </a:solidFill>
                <a:latin typeface="Calibri"/>
                <a:ea typeface="Microsoft JhengHei"/>
                <a:cs typeface="Calibri"/>
              </a:rPr>
              <a:t>在三種變體下完整複現。</a:t>
            </a:r>
          </a:p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23272B"/>
                </a:solidFill>
                <a:latin typeface="Calibri"/>
                <a:ea typeface="Microsoft JhengHei"/>
                <a:cs typeface="Calibri"/>
              </a:rPr>
              <a:t>② Hermes 在變體間無顯著差異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00" b="0" i="0">
                <a:solidFill>
                  <a:srgbClr val="465059"/>
                </a:solidFill>
                <a:latin typeface="Calibri"/>
                <a:ea typeface="Microsoft JhengHei"/>
                <a:cs typeface="Calibri"/>
              </a:rPr>
              <a:t>(all p &gt; 0.3)。</a:t>
            </a:r>
          </a:p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2E8B57"/>
                </a:solidFill>
                <a:latin typeface="Calibri"/>
                <a:ea typeface="Microsoft JhengHei"/>
                <a:cs typeface="Calibri"/>
              </a:rPr>
              <a:t>③ 證實模型無關性：獎勵設計</a:t>
            </a:r>
          </a:p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465059"/>
                </a:solidFill>
                <a:latin typeface="Calibri"/>
                <a:ea typeface="Microsoft JhengHei"/>
                <a:cs typeface="Calibri"/>
              </a:rPr>
              <a:t>的作用獨立於價值網路架構。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6480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8C9298"/>
                </a:solidFill>
                <a:latin typeface="Calibri"/>
                <a:ea typeface="Microsoft JhengHei"/>
                <a:cs typeface="Calibri"/>
              </a:rPr>
              <a:t>Hermes-DQN ・ 國立中興大學 資訊管理學研究所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6480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C9298"/>
                </a:solidFill>
                <a:latin typeface="Calibri"/>
                <a:ea typeface="Microsoft JhengHei"/>
                <a:cs typeface="Calibr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512064"/>
            <a:ext cx="109728" cy="365760"/>
          </a:xfrm>
          <a:prstGeom prst="rect">
            <a:avLst/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57200"/>
            <a:ext cx="8778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00" b="1" i="0">
                <a:solidFill>
                  <a:srgbClr val="23272B"/>
                </a:solidFill>
                <a:latin typeface="Georgia"/>
                <a:ea typeface="Microsoft JhengHei"/>
                <a:cs typeface="Georgia"/>
              </a:rPr>
              <a:t>完整結果數據表（附錄）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418319" y="512064"/>
            <a:ext cx="2194560" cy="329184"/>
          </a:xfrm>
          <a:prstGeom prst="roundRect">
            <a:avLst>
              <a:gd name="adj" fmla="val 50000"/>
            </a:avLst>
          </a:prstGeom>
          <a:solidFill>
            <a:srgbClr val="465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Appendix · Table 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170432"/>
            <a:ext cx="11055096" cy="0"/>
          </a:xfrm>
          <a:prstGeom prst="line">
            <a:avLst/>
          </a:prstGeom>
          <a:ln w="12700">
            <a:solidFill>
              <a:srgbClr val="DDE1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2801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8C9298"/>
                </a:solidFill>
                <a:latin typeface="Microsoft JhengHei"/>
                <a:ea typeface="Microsoft JhengHei"/>
                <a:cs typeface="Microsoft JhengHei"/>
              </a:rPr>
              <a:t>env_native_mean（n=5）｜粗綠 = 相對 B0 顯著勝出，紅斜 = 相對 no-memory 顯著敗退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465059"/>
                </a:solidFill>
                <a:latin typeface="Microsoft JhengHei"/>
                <a:ea typeface="Microsoft JhengHei"/>
                <a:cs typeface="Microsoft JhengHei"/>
              </a:rPr>
              <a:t>條件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0" y="178308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465059"/>
                </a:solidFill>
                <a:latin typeface="Microsoft JhengHei"/>
                <a:ea typeface="Microsoft JhengHei"/>
                <a:cs typeface="Microsoft JhengHei"/>
              </a:rPr>
              <a:t>LunarLander (密集)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0" y="178308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465059"/>
                </a:solidFill>
                <a:latin typeface="Microsoft JhengHei"/>
                <a:ea typeface="Microsoft JhengHei"/>
                <a:cs typeface="Microsoft JhengHei"/>
              </a:rPr>
              <a:t>CartPole (稀疏)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6680" y="178308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465059"/>
                </a:solidFill>
                <a:latin typeface="Microsoft JhengHei"/>
                <a:ea typeface="Microsoft JhengHei"/>
                <a:cs typeface="Microsoft JhengHei"/>
              </a:rPr>
              <a:t>MountainCar (稀疏)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0" y="1783080"/>
            <a:ext cx="16916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465059"/>
                </a:solidFill>
                <a:latin typeface="Microsoft JhengHei"/>
                <a:ea typeface="Microsoft JhengHei"/>
                <a:cs typeface="Microsoft JhengHei"/>
              </a:rPr>
              <a:t>Acrobot (稀疏)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40080" y="2852928"/>
            <a:ext cx="10927080" cy="0"/>
          </a:xfrm>
          <a:prstGeom prst="line">
            <a:avLst/>
          </a:prstGeom>
          <a:ln w="9525">
            <a:solidFill>
              <a:srgbClr val="DDE1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85800" y="2432304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3272B"/>
                </a:solidFill>
                <a:latin typeface="Consolas"/>
                <a:ea typeface="Microsoft JhengHei"/>
                <a:cs typeface="Consolas"/>
              </a:rPr>
              <a:t>B0-env-native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2432304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23272B"/>
                </a:solidFill>
                <a:latin typeface="Georgia"/>
                <a:ea typeface="Microsoft JhengHei"/>
                <a:cs typeface="Georgia"/>
              </a:rPr>
              <a:t>173.22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40" y="2432304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23272B"/>
                </a:solidFill>
                <a:latin typeface="Georgia"/>
                <a:ea typeface="Microsoft JhengHei"/>
                <a:cs typeface="Georgia"/>
              </a:rPr>
              <a:t>154.80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26680" y="2432304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23272B"/>
                </a:solidFill>
                <a:latin typeface="Georgia"/>
                <a:ea typeface="Microsoft JhengHei"/>
                <a:cs typeface="Georgia"/>
              </a:rPr>
              <a:t>−193.44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0" y="2432304"/>
            <a:ext cx="16916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23272B"/>
                </a:solidFill>
                <a:latin typeface="Georgia"/>
                <a:ea typeface="Microsoft JhengHei"/>
                <a:cs typeface="Georgia"/>
              </a:rPr>
              <a:t>−194.96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40080" y="3456432"/>
            <a:ext cx="10927080" cy="0"/>
          </a:xfrm>
          <a:prstGeom prst="line">
            <a:avLst/>
          </a:prstGeom>
          <a:ln w="9525">
            <a:solidFill>
              <a:srgbClr val="DDE1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85800" y="3035808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3272B"/>
                </a:solidFill>
                <a:latin typeface="Consolas"/>
                <a:ea typeface="Microsoft JhengHei"/>
                <a:cs typeface="Consolas"/>
              </a:rPr>
              <a:t>B1-handcrafted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3035808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23272B"/>
                </a:solidFill>
                <a:latin typeface="Georgia"/>
                <a:ea typeface="Microsoft JhengHei"/>
                <a:cs typeface="Georgia"/>
              </a:rPr>
              <a:t>77.77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77840" y="3035808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23272B"/>
                </a:solidFill>
                <a:latin typeface="Georgia"/>
                <a:ea typeface="Microsoft JhengHei"/>
                <a:cs typeface="Georgia"/>
              </a:rPr>
              <a:t>160.19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26680" y="3035808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23272B"/>
                </a:solidFill>
                <a:latin typeface="Georgia"/>
                <a:ea typeface="Microsoft JhengHei"/>
                <a:cs typeface="Georgia"/>
              </a:rPr>
              <a:t>−140.40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0" y="3035808"/>
            <a:ext cx="16916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23272B"/>
                </a:solidFill>
                <a:latin typeface="Georgia"/>
                <a:ea typeface="Microsoft JhengHei"/>
                <a:cs typeface="Georgia"/>
              </a:rPr>
              <a:t>−185.28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40080" y="4059936"/>
            <a:ext cx="10927080" cy="0"/>
          </a:xfrm>
          <a:prstGeom prst="line">
            <a:avLst/>
          </a:prstGeom>
          <a:ln w="9525">
            <a:solidFill>
              <a:srgbClr val="DDE1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85800" y="363931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3272B"/>
                </a:solidFill>
                <a:latin typeface="Consolas"/>
                <a:ea typeface="Microsoft JhengHei"/>
                <a:cs typeface="Consolas"/>
              </a:rPr>
              <a:t>B2-gemma-oneshot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29000" y="3639312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23272B"/>
                </a:solidFill>
                <a:latin typeface="Georgia"/>
                <a:ea typeface="Microsoft JhengHei"/>
                <a:cs typeface="Georgia"/>
              </a:rPr>
              <a:t>152.65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77840" y="3639312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23272B"/>
                </a:solidFill>
                <a:latin typeface="Georgia"/>
                <a:ea typeface="Microsoft JhengHei"/>
                <a:cs typeface="Georgia"/>
              </a:rPr>
              <a:t>187.64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26680" y="3639312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23272B"/>
                </a:solidFill>
                <a:latin typeface="Georgia"/>
                <a:ea typeface="Microsoft JhengHei"/>
                <a:cs typeface="Georgia"/>
              </a:rPr>
              <a:t>−153.09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0" y="3639312"/>
            <a:ext cx="16916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23272B"/>
                </a:solidFill>
                <a:latin typeface="Georgia"/>
                <a:ea typeface="Microsoft JhengHei"/>
                <a:cs typeface="Georgia"/>
              </a:rPr>
              <a:t>−83.21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4151376"/>
            <a:ext cx="10927080" cy="548640"/>
          </a:xfrm>
          <a:prstGeom prst="roundRect">
            <a:avLst>
              <a:gd name="adj" fmla="val 10000"/>
            </a:avLst>
          </a:prstGeom>
          <a:solidFill>
            <a:srgbClr val="FBF1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4242816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3272B"/>
                </a:solidFill>
                <a:latin typeface="Consolas"/>
                <a:ea typeface="Microsoft JhengHei"/>
                <a:cs typeface="Consolas"/>
              </a:rPr>
              <a:t>B3-hermes-full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29000" y="4242816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1">
                <a:solidFill>
                  <a:srgbClr val="C4463D"/>
                </a:solidFill>
                <a:latin typeface="Georgia"/>
                <a:ea typeface="Microsoft JhengHei"/>
                <a:cs typeface="Georgia"/>
              </a:rPr>
              <a:t>153.56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77840" y="4242816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2E8B57"/>
                </a:solidFill>
                <a:latin typeface="Georgia"/>
                <a:ea typeface="Microsoft JhengHei"/>
                <a:cs typeface="Georgia"/>
              </a:rPr>
              <a:t>334.44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26680" y="4242816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2E8B57"/>
                </a:solidFill>
                <a:latin typeface="Georgia"/>
                <a:ea typeface="Microsoft JhengHei"/>
                <a:cs typeface="Georgia"/>
              </a:rPr>
              <a:t>−132.53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75520" y="4242816"/>
            <a:ext cx="16916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23272B"/>
                </a:solidFill>
                <a:latin typeface="Georgia"/>
                <a:ea typeface="Microsoft JhengHei"/>
                <a:cs typeface="Georgia"/>
              </a:rPr>
              <a:t>−82.92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40080" y="5266944"/>
            <a:ext cx="10927080" cy="0"/>
          </a:xfrm>
          <a:prstGeom prst="line">
            <a:avLst/>
          </a:prstGeom>
          <a:ln w="9525">
            <a:solidFill>
              <a:srgbClr val="DDE1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85800" y="48463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3272B"/>
                </a:solidFill>
                <a:latin typeface="Consolas"/>
                <a:ea typeface="Microsoft JhengHei"/>
                <a:cs typeface="Consolas"/>
              </a:rPr>
              <a:t>B3-no-memory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29000" y="484632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2E8B57"/>
                </a:solidFill>
                <a:latin typeface="Georgia"/>
                <a:ea typeface="Microsoft JhengHei"/>
                <a:cs typeface="Georgia"/>
              </a:rPr>
              <a:t>248.77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77840" y="484632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23272B"/>
                </a:solidFill>
                <a:latin typeface="Georgia"/>
                <a:ea typeface="Microsoft JhengHei"/>
                <a:cs typeface="Georgia"/>
              </a:rPr>
              <a:t>243.21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26680" y="484632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23272B"/>
                </a:solidFill>
                <a:latin typeface="Georgia"/>
                <a:ea typeface="Microsoft JhengHei"/>
                <a:cs typeface="Georgia"/>
              </a:rPr>
              <a:t>−168.55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75520" y="4846320"/>
            <a:ext cx="16916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23272B"/>
                </a:solidFill>
                <a:latin typeface="Georgia"/>
                <a:ea typeface="Microsoft JhengHei"/>
                <a:cs typeface="Georgia"/>
              </a:rPr>
              <a:t>−83.23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640080" y="5870448"/>
            <a:ext cx="10927080" cy="0"/>
          </a:xfrm>
          <a:prstGeom prst="line">
            <a:avLst/>
          </a:prstGeom>
          <a:ln w="9525">
            <a:solidFill>
              <a:srgbClr val="DDE1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685800" y="5449824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3272B"/>
                </a:solidFill>
                <a:latin typeface="Consolas"/>
                <a:ea typeface="Microsoft JhengHei"/>
                <a:cs typeface="Consolas"/>
              </a:rPr>
              <a:t>B3-no-AST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29000" y="5449824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23272B"/>
                </a:solidFill>
                <a:latin typeface="Georgia"/>
                <a:ea typeface="Microsoft JhengHei"/>
                <a:cs typeface="Georgia"/>
              </a:rPr>
              <a:t>95.42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577840" y="5449824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23272B"/>
                </a:solidFill>
                <a:latin typeface="Georgia"/>
                <a:ea typeface="Microsoft JhengHei"/>
                <a:cs typeface="Georgia"/>
              </a:rPr>
              <a:t>220.81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26680" y="5449824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23272B"/>
                </a:solidFill>
                <a:latin typeface="Georgia"/>
                <a:ea typeface="Microsoft JhengHei"/>
                <a:cs typeface="Georgia"/>
              </a:rPr>
              <a:t>−134.59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75520" y="5449824"/>
            <a:ext cx="16916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23272B"/>
                </a:solidFill>
                <a:latin typeface="Georgia"/>
                <a:ea typeface="Microsoft JhengHei"/>
                <a:cs typeface="Georgia"/>
              </a:rPr>
              <a:t>−83.58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0080" y="5715000"/>
            <a:ext cx="10881360" cy="566928"/>
          </a:xfrm>
          <a:prstGeom prst="rect">
            <a:avLst/>
          </a:prstGeom>
          <a:solidFill>
            <a:srgbClr val="FBF1A9"/>
          </a:solidFill>
          <a:ln w="9525">
            <a:solidFill>
              <a:srgbClr val="E7D4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01600" bIns="101600"/>
          <a:lstStyle/>
          <a:p>
            <a:pPr algn="l">
              <a:lnSpc>
                <a:spcPct val="108000"/>
              </a:lnSpc>
            </a:pPr>
            <a:r>
              <a:rPr sz="1200" b="1" i="0">
                <a:solidFill>
                  <a:srgbClr val="23272B"/>
                </a:solidFill>
                <a:latin typeface="Calibri"/>
                <a:ea typeface="Microsoft JhengHei"/>
                <a:cs typeface="Calibri"/>
              </a:rPr>
              <a:t>一句話：三個稀疏環境 B3-hermes-full 相對 B0 +31.5%~+116%；唯一的密集環境 LunarLander 反而被「記憶」拖累 −38.3%。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6928" y="646480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8C9298"/>
                </a:solidFill>
                <a:latin typeface="Calibri"/>
                <a:ea typeface="Microsoft JhengHei"/>
                <a:cs typeface="Calibri"/>
              </a:rPr>
              <a:t>Hermes-DQN ・ 國立中興大學 資訊管理學研究所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789920" y="646480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C9298"/>
                </a:solidFill>
                <a:latin typeface="Calibri"/>
                <a:ea typeface="Microsoft JhengHei"/>
                <a:cs typeface="Calibr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512064"/>
            <a:ext cx="109728" cy="365760"/>
          </a:xfrm>
          <a:prstGeom prst="rect">
            <a:avLst/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57200"/>
            <a:ext cx="8778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00" b="1" i="0">
                <a:solidFill>
                  <a:srgbClr val="23272B"/>
                </a:solidFill>
                <a:latin typeface="Georgia"/>
                <a:ea typeface="Microsoft JhengHei"/>
                <a:cs typeface="Georgia"/>
              </a:rPr>
              <a:t>結論法則：獎勵密度假說 (Reward Density Hypothesis)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75519" y="512064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465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Decision Rule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170432"/>
            <a:ext cx="11055096" cy="0"/>
          </a:xfrm>
          <a:prstGeom prst="line">
            <a:avLst/>
          </a:prstGeom>
          <a:ln w="12700">
            <a:solidFill>
              <a:srgbClr val="DDE1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40080" y="2468880"/>
            <a:ext cx="2834640" cy="1463040"/>
          </a:xfrm>
          <a:prstGeom prst="roundRect">
            <a:avLst>
              <a:gd name="adj" fmla="val 8000"/>
            </a:avLst>
          </a:prstGeom>
          <a:solidFill>
            <a:srgbClr val="232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要不要使用</a:t>
            </a:r>
          </a:p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記憶擴增的</a:t>
            </a:r>
          </a:p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FBF1A9"/>
                </a:solidFill>
                <a:latin typeface="Calibri"/>
                <a:ea typeface="Microsoft JhengHei"/>
                <a:cs typeface="Calibri"/>
              </a:rPr>
              <a:t>LLM 獎勵設計？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3520440" y="2011680"/>
            <a:ext cx="1143000" cy="777240"/>
          </a:xfrm>
          <a:prstGeom prst="line">
            <a:avLst/>
          </a:prstGeom>
          <a:ln w="25400">
            <a:solidFill>
              <a:srgbClr val="8C9298"/>
            </a:solidFill>
            <a:headEnd type="none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520440" y="3611880"/>
            <a:ext cx="1143000" cy="822960"/>
          </a:xfrm>
          <a:prstGeom prst="line">
            <a:avLst/>
          </a:prstGeom>
          <a:ln w="25400">
            <a:solidFill>
              <a:srgbClr val="8C9298"/>
            </a:solidFill>
            <a:headEnd type="none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709160" y="1371600"/>
            <a:ext cx="310896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BEE2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400" b="1" i="0">
                <a:solidFill>
                  <a:srgbClr val="2E8B57"/>
                </a:solidFill>
                <a:latin typeface="Calibri"/>
                <a:ea typeface="Microsoft JhengHei"/>
                <a:cs typeface="Calibri"/>
              </a:rPr>
              <a:t>環境獎勵稀疏</a:t>
            </a:r>
          </a:p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23272B"/>
                </a:solidFill>
                <a:latin typeface="Calibri"/>
                <a:ea typeface="Microsoft JhengHei"/>
                <a:cs typeface="Calibri"/>
              </a:rPr>
              <a:t>單一目標 / 存活挑戰</a:t>
            </a:r>
          </a:p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8C9298"/>
                </a:solidFill>
                <a:latin typeface="Calibri"/>
                <a:ea typeface="Microsoft JhengHei"/>
                <a:cs typeface="Calibri"/>
              </a:rPr>
              <a:t>原生梯度微弱、物理單純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863840" y="2075688"/>
            <a:ext cx="548640" cy="0"/>
          </a:xfrm>
          <a:prstGeom prst="line">
            <a:avLst/>
          </a:prstGeom>
          <a:ln w="31750">
            <a:solidFill>
              <a:srgbClr val="2E8B57"/>
            </a:solidFill>
            <a:headEnd type="none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458200" y="1371600"/>
            <a:ext cx="3108960" cy="1417320"/>
          </a:xfrm>
          <a:prstGeom prst="roundRect">
            <a:avLst>
              <a:gd name="adj" fmla="val 6000"/>
            </a:avLst>
          </a:prstGeom>
          <a:solidFill>
            <a:srgbClr val="E9F4EC"/>
          </a:solidFill>
          <a:ln w="12700">
            <a:solidFill>
              <a:srgbClr val="BEE2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500" b="1" i="0">
                <a:solidFill>
                  <a:srgbClr val="2E8B57"/>
                </a:solidFill>
                <a:latin typeface="Calibri"/>
                <a:ea typeface="Microsoft JhengHei"/>
                <a:cs typeface="Calibri"/>
              </a:rPr>
              <a:t>✓ 強力啟用</a:t>
            </a:r>
          </a:p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23272B"/>
                </a:solidFill>
                <a:latin typeface="Calibri"/>
                <a:ea typeface="Microsoft JhengHei"/>
                <a:cs typeface="Calibri"/>
              </a:rPr>
              <a:t>解鎖任務，效能 +30%~100%+，</a:t>
            </a:r>
          </a:p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23272B"/>
                </a:solidFill>
                <a:latin typeface="Calibri"/>
                <a:ea typeface="Microsoft JhengHei"/>
                <a:cs typeface="Calibri"/>
              </a:rPr>
              <a:t>且變異低。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09160" y="3977639"/>
            <a:ext cx="310896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F0C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400" b="1" i="0">
                <a:solidFill>
                  <a:srgbClr val="C4463D"/>
                </a:solidFill>
                <a:latin typeface="Calibri"/>
                <a:ea typeface="Microsoft JhengHei"/>
                <a:cs typeface="Calibri"/>
              </a:rPr>
              <a:t>環境獎勵密集</a:t>
            </a:r>
          </a:p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23272B"/>
                </a:solidFill>
                <a:latin typeface="Calibri"/>
                <a:ea typeface="Microsoft JhengHei"/>
                <a:cs typeface="Calibri"/>
              </a:rPr>
              <a:t>多重連續塑形空間</a:t>
            </a:r>
          </a:p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8C9298"/>
                </a:solidFill>
                <a:latin typeface="Calibri"/>
                <a:ea typeface="Microsoft JhengHei"/>
                <a:cs typeface="Calibri"/>
              </a:rPr>
              <a:t>原生梯度強烈、塑形豐富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863840" y="4681728"/>
            <a:ext cx="548640" cy="0"/>
          </a:xfrm>
          <a:prstGeom prst="line">
            <a:avLst/>
          </a:prstGeom>
          <a:ln w="31750">
            <a:solidFill>
              <a:srgbClr val="C4463D"/>
            </a:solidFill>
            <a:headEnd type="none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458200" y="3977639"/>
            <a:ext cx="3108960" cy="1417320"/>
          </a:xfrm>
          <a:prstGeom prst="roundRect">
            <a:avLst>
              <a:gd name="adj" fmla="val 6000"/>
            </a:avLst>
          </a:prstGeom>
          <a:solidFill>
            <a:srgbClr val="FBEAE8"/>
          </a:solidFill>
          <a:ln w="12700">
            <a:solidFill>
              <a:srgbClr val="F0C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400" b="1" i="0">
                <a:solidFill>
                  <a:srgbClr val="C4463D"/>
                </a:solidFill>
                <a:latin typeface="Calibri"/>
                <a:ea typeface="Microsoft JhengHei"/>
                <a:cs typeface="Calibri"/>
              </a:rPr>
              <a:t>⚠ 謹慎 / 禁用記憶</a:t>
            </a:r>
          </a:p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23272B"/>
                </a:solidFill>
                <a:latin typeface="Calibri"/>
                <a:ea typeface="Microsoft JhengHei"/>
                <a:cs typeface="Calibri"/>
              </a:rPr>
              <a:t>易產生加法干擾，引發高變異</a:t>
            </a:r>
          </a:p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23272B"/>
                </a:solidFill>
                <a:latin typeface="Calibri"/>
                <a:ea typeface="Microsoft JhengHei"/>
                <a:cs typeface="Calibri"/>
              </a:rPr>
              <a:t>與退化 (std 高達 91+)。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46480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8C9298"/>
                </a:solidFill>
                <a:latin typeface="Calibri"/>
                <a:ea typeface="Microsoft JhengHei"/>
                <a:cs typeface="Calibri"/>
              </a:rPr>
              <a:t>Hermes-DQN ・ 國立中興大學 資訊管理學研究所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46480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C9298"/>
                </a:solidFill>
                <a:latin typeface="Calibri"/>
                <a:ea typeface="Microsoft JhengHei"/>
                <a:cs typeface="Calibr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188720"/>
            <a:ext cx="3291840" cy="4206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0" b="1" i="0">
                <a:solidFill>
                  <a:srgbClr val="EAEDF0"/>
                </a:solidFill>
                <a:latin typeface="Georgia"/>
                <a:ea typeface="Georgia"/>
                <a:cs typeface="Georgia"/>
              </a:rP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0" y="2468880"/>
            <a:ext cx="8229600" cy="10058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5000" b="0" i="0">
                <a:solidFill>
                  <a:srgbClr val="23272B"/>
                </a:solidFill>
                <a:latin typeface="Georgia"/>
                <a:ea typeface="Microsoft JhengHei"/>
                <a:cs typeface="Georgia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46704" y="3611880"/>
            <a:ext cx="8229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465059"/>
                </a:solidFill>
                <a:latin typeface="Microsoft JhengHei"/>
                <a:ea typeface="Microsoft JhengHei"/>
                <a:cs typeface="Microsoft JhengHei"/>
              </a:rPr>
              <a:t>結論與未來展望</a:t>
            </a:r>
          </a:p>
        </p:txBody>
      </p:sp>
      <p:sp>
        <p:nvSpPr>
          <p:cNvPr id="5" name="Rectangle 4"/>
          <p:cNvSpPr/>
          <p:nvPr/>
        </p:nvSpPr>
        <p:spPr>
          <a:xfrm>
            <a:off x="3346704" y="3456432"/>
            <a:ext cx="1280160" cy="36576"/>
          </a:xfrm>
          <a:prstGeom prst="rect">
            <a:avLst/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512064"/>
            <a:ext cx="109728" cy="365760"/>
          </a:xfrm>
          <a:prstGeom prst="rect">
            <a:avLst/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57200"/>
            <a:ext cx="8778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00" b="1" i="0">
                <a:solidFill>
                  <a:srgbClr val="23272B"/>
                </a:solidFill>
                <a:latin typeface="Georgia"/>
                <a:ea typeface="Microsoft JhengHei"/>
                <a:cs typeface="Georgia"/>
              </a:rPr>
              <a:t>Hermes-DQN：貢獻與核心發現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0" y="512064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465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Conclusion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170432"/>
            <a:ext cx="11055096" cy="0"/>
          </a:xfrm>
          <a:prstGeom prst="line">
            <a:avLst/>
          </a:prstGeom>
          <a:ln w="12700">
            <a:solidFill>
              <a:srgbClr val="DDE1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3716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23272B"/>
                </a:solidFill>
                <a:latin typeface="Microsoft JhengHei"/>
                <a:ea typeface="Microsoft JhengHei"/>
                <a:cs typeface="Microsoft JhengHei"/>
              </a:rPr>
              <a:t>系統性整合「開源 LLM + 四層記憶 + AST 感知緩衝」，歷經 4 大環境、120 次嚴格訓練與消融實驗。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63040" y="2331720"/>
            <a:ext cx="24688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600" b="1" i="0">
                <a:solidFill>
                  <a:srgbClr val="2E8B57"/>
                </a:solidFill>
                <a:latin typeface="Calibri"/>
                <a:ea typeface="Microsoft JhengHei"/>
                <a:cs typeface="Calibri"/>
              </a:rPr>
              <a:t>開源 LLM</a:t>
            </a:r>
          </a:p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8C9298"/>
                </a:solidFill>
                <a:latin typeface="Calibri"/>
                <a:ea typeface="Microsoft JhengHei"/>
                <a:cs typeface="Calibri"/>
              </a:rPr>
              <a:t>reward author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931920" y="2898648"/>
            <a:ext cx="274320" cy="0"/>
          </a:xfrm>
          <a:prstGeom prst="line">
            <a:avLst/>
          </a:prstGeom>
          <a:ln w="31750">
            <a:solidFill>
              <a:srgbClr val="8C9298"/>
            </a:solidFill>
            <a:headEnd type="none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206240" y="2331720"/>
            <a:ext cx="24688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3F6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600" b="1" i="0">
                <a:solidFill>
                  <a:srgbClr val="3F6FA8"/>
                </a:solidFill>
                <a:latin typeface="Calibri"/>
                <a:ea typeface="Microsoft JhengHei"/>
                <a:cs typeface="Calibri"/>
              </a:rPr>
              <a:t>四層記憶</a:t>
            </a:r>
          </a:p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8C9298"/>
                </a:solidFill>
                <a:latin typeface="Calibri"/>
                <a:ea typeface="Microsoft JhengHei"/>
                <a:cs typeface="Calibri"/>
              </a:rPr>
              <a:t>4-Tier Memory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675120" y="2898648"/>
            <a:ext cx="274320" cy="0"/>
          </a:xfrm>
          <a:prstGeom prst="line">
            <a:avLst/>
          </a:prstGeom>
          <a:ln w="31750">
            <a:solidFill>
              <a:srgbClr val="8C9298"/>
            </a:solidFill>
            <a:headEnd type="none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0" y="2331720"/>
            <a:ext cx="24688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D99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600" b="1" i="0">
                <a:solidFill>
                  <a:srgbClr val="D99A2B"/>
                </a:solidFill>
                <a:latin typeface="Calibri"/>
                <a:ea typeface="Microsoft JhengHei"/>
                <a:cs typeface="Calibri"/>
              </a:rPr>
              <a:t>AST 緩衝</a:t>
            </a:r>
          </a:p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8C9298"/>
                </a:solidFill>
                <a:latin typeface="Calibri"/>
                <a:ea typeface="Microsoft JhengHei"/>
                <a:cs typeface="Calibri"/>
              </a:rPr>
              <a:t>AST-aware Buffer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977639"/>
            <a:ext cx="10881360" cy="1691640"/>
          </a:xfrm>
          <a:prstGeom prst="roundRect">
            <a:avLst>
              <a:gd name="adj" fmla="val 5000"/>
            </a:avLst>
          </a:prstGeom>
          <a:solidFill>
            <a:srgbClr val="232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700" b="1" i="0">
                <a:solidFill>
                  <a:srgbClr val="FBF1A9"/>
                </a:solidFill>
                <a:latin typeface="Calibri"/>
                <a:ea typeface="Microsoft JhengHei"/>
                <a:cs typeface="Calibri"/>
              </a:rPr>
              <a:t>核心發現：破除「記憶必定有益」的迷思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350" b="0" i="0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記憶對 LLM 獎勵設計的效益取決於「獎勵密度」——稀疏環境大幅受益，密集環境反而受害。</a:t>
            </a:r>
          </a:p>
          <a:p>
            <a:pPr algn="l">
              <a:lnSpc>
                <a:spcPct val="130000"/>
              </a:lnSpc>
            </a:pPr>
            <a:r>
              <a:rPr sz="1350" b="1" i="0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這是該領域首次提出、且具統計顯著的「任務相依性反轉」報告。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6480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8C9298"/>
                </a:solidFill>
                <a:latin typeface="Calibri"/>
                <a:ea typeface="Microsoft JhengHei"/>
                <a:cs typeface="Calibri"/>
              </a:rPr>
              <a:t>Hermes-DQN ・ 國立中興大學 資訊管理學研究所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6480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C9298"/>
                </a:solidFill>
                <a:latin typeface="Calibri"/>
                <a:ea typeface="Microsoft JhengHei"/>
                <a:cs typeface="Calibri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512064"/>
            <a:ext cx="109728" cy="365760"/>
          </a:xfrm>
          <a:prstGeom prst="rect">
            <a:avLst/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57200"/>
            <a:ext cx="8778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00" b="1" i="0">
                <a:solidFill>
                  <a:srgbClr val="23272B"/>
                </a:solidFill>
                <a:latin typeface="Georgia"/>
                <a:ea typeface="Microsoft JhengHei"/>
                <a:cs typeface="Georgia"/>
              </a:rPr>
              <a:t>兩個世界：稀疏 vs 密集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75519" y="512064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465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Two Regimes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170432"/>
            <a:ext cx="11055096" cy="0"/>
          </a:xfrm>
          <a:prstGeom prst="line">
            <a:avLst/>
          </a:prstGeom>
          <a:ln w="12700">
            <a:solidFill>
              <a:srgbClr val="DDE1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40080" y="1463040"/>
            <a:ext cx="5349240" cy="4160520"/>
          </a:xfrm>
          <a:prstGeom prst="roundRect">
            <a:avLst>
              <a:gd name="adj" fmla="val 4000"/>
            </a:avLst>
          </a:prstGeom>
          <a:solidFill>
            <a:srgbClr val="E9F4EC"/>
          </a:solidFill>
          <a:ln w="12700">
            <a:solidFill>
              <a:srgbClr val="BEE2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/>
          </a:p>
        </p:txBody>
      </p:sp>
      <p:sp>
        <p:nvSpPr>
          <p:cNvPr id="7" name="Up Arrow 6"/>
          <p:cNvSpPr/>
          <p:nvPr/>
        </p:nvSpPr>
        <p:spPr>
          <a:xfrm>
            <a:off x="960120" y="1783080"/>
            <a:ext cx="822960" cy="822960"/>
          </a:xfrm>
          <a:prstGeom prst="upArrow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20240" y="1783080"/>
            <a:ext cx="38404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2E8B57"/>
                </a:solidFill>
                <a:latin typeface="Georgia"/>
                <a:ea typeface="Microsoft JhengHei"/>
                <a:cs typeface="Georgia"/>
              </a:rPr>
              <a:t>稀疏獎勵
Sparse Environments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92608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E8B57"/>
                </a:solidFill>
                <a:latin typeface="Microsoft JhengHei"/>
                <a:ea typeface="Microsoft JhengHei"/>
                <a:cs typeface="Microsoft JhengHei"/>
              </a:rPr>
              <a:t>任務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926080"/>
            <a:ext cx="3886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23272B"/>
                </a:solidFill>
                <a:latin typeface="Microsoft JhengHei"/>
                <a:ea typeface="Microsoft JhengHei"/>
                <a:cs typeface="Microsoft JhengHei"/>
              </a:rPr>
              <a:t>CartPole · MountainCar · Acrobot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584448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E8B57"/>
                </a:solidFill>
                <a:latin typeface="Microsoft JhengHei"/>
                <a:ea typeface="Microsoft JhengHei"/>
                <a:cs typeface="Microsoft JhengHei"/>
              </a:rPr>
              <a:t>效能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5960" y="3584448"/>
            <a:ext cx="3886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23272B"/>
                </a:solidFill>
                <a:latin typeface="Microsoft JhengHei"/>
                <a:ea typeface="Microsoft JhengHei"/>
                <a:cs typeface="Microsoft JhengHei"/>
              </a:rPr>
              <a:t>+25% ~ +116% 顯著提升 (vs B0)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242816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E8B57"/>
                </a:solidFill>
                <a:latin typeface="Microsoft JhengHei"/>
                <a:ea typeface="Microsoft JhengHei"/>
                <a:cs typeface="Microsoft JhengHei"/>
              </a:rPr>
              <a:t>特性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4242816"/>
            <a:ext cx="3886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23272B"/>
                </a:solidFill>
                <a:latin typeface="Microsoft JhengHei"/>
                <a:ea typeface="Microsoft JhengHei"/>
                <a:cs typeface="Microsoft JhengHei"/>
              </a:rPr>
              <a:t>正向協同、變異極低 (std 3~4)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901183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E8B57"/>
                </a:solidFill>
                <a:latin typeface="Microsoft JhengHei"/>
                <a:ea typeface="Microsoft JhengHei"/>
                <a:cs typeface="Microsoft JhengHei"/>
              </a:rPr>
              <a:t>結論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65960" y="4901183"/>
            <a:ext cx="3886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23272B"/>
                </a:solidFill>
                <a:latin typeface="Microsoft JhengHei"/>
                <a:ea typeface="Microsoft JhengHei"/>
                <a:cs typeface="Microsoft JhengHei"/>
              </a:rPr>
              <a:t>開源 LLM + 記憶發揮強大優勢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1463040"/>
            <a:ext cx="5349240" cy="4160520"/>
          </a:xfrm>
          <a:prstGeom prst="roundRect">
            <a:avLst>
              <a:gd name="adj" fmla="val 4000"/>
            </a:avLst>
          </a:prstGeom>
          <a:solidFill>
            <a:srgbClr val="FBEAE8"/>
          </a:solidFill>
          <a:ln w="12700">
            <a:solidFill>
              <a:srgbClr val="F0C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/>
          </a:p>
        </p:txBody>
      </p:sp>
      <p:sp>
        <p:nvSpPr>
          <p:cNvPr id="18" name="Down Arrow 17"/>
          <p:cNvSpPr/>
          <p:nvPr/>
        </p:nvSpPr>
        <p:spPr>
          <a:xfrm>
            <a:off x="6492240" y="1783080"/>
            <a:ext cx="822960" cy="822960"/>
          </a:xfrm>
          <a:prstGeom prst="downArrow">
            <a:avLst/>
          </a:prstGeom>
          <a:solidFill>
            <a:srgbClr val="C44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52360" y="1783080"/>
            <a:ext cx="38404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C4463D"/>
                </a:solidFill>
                <a:latin typeface="Georgia"/>
                <a:ea typeface="Microsoft JhengHei"/>
                <a:cs typeface="Georgia"/>
              </a:rPr>
              <a:t>密集獎勵
Dense Environments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292608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4463D"/>
                </a:solidFill>
                <a:latin typeface="Microsoft JhengHei"/>
                <a:ea typeface="Microsoft JhengHei"/>
                <a:cs typeface="Microsoft JhengHei"/>
              </a:rPr>
              <a:t>任務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2926080"/>
            <a:ext cx="3886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23272B"/>
                </a:solidFill>
                <a:latin typeface="Microsoft JhengHei"/>
                <a:ea typeface="Microsoft JhengHei"/>
                <a:cs typeface="Microsoft JhengHei"/>
              </a:rPr>
              <a:t>LunarLander（唯一密集環境）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584448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4463D"/>
                </a:solidFill>
                <a:latin typeface="Microsoft JhengHei"/>
                <a:ea typeface="Microsoft JhengHei"/>
                <a:cs typeface="Microsoft JhengHei"/>
              </a:rPr>
              <a:t>效能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3584448"/>
            <a:ext cx="3886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23272B"/>
                </a:solidFill>
                <a:latin typeface="Microsoft JhengHei"/>
                <a:ea typeface="Microsoft JhengHei"/>
                <a:cs typeface="Microsoft JhengHei"/>
              </a:rPr>
              <a:t>記憶導致效能衰退 −38%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4242816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4463D"/>
                </a:solidFill>
                <a:latin typeface="Microsoft JhengHei"/>
                <a:ea typeface="Microsoft JhengHei"/>
                <a:cs typeface="Microsoft JhengHei"/>
              </a:rPr>
              <a:t>特性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4242816"/>
            <a:ext cx="3886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23272B"/>
                </a:solidFill>
                <a:latin typeface="Microsoft JhengHei"/>
                <a:ea typeface="Microsoft JhengHei"/>
                <a:cs typeface="Microsoft JhengHei"/>
              </a:rPr>
              <a:t>高變異 (std 91+)、可能策略崩潰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4901183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4463D"/>
                </a:solidFill>
                <a:latin typeface="Microsoft JhengHei"/>
                <a:ea typeface="Microsoft JhengHei"/>
                <a:cs typeface="Microsoft JhengHei"/>
              </a:rPr>
              <a:t>結論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4901183"/>
            <a:ext cx="3886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23272B"/>
                </a:solidFill>
                <a:latin typeface="Microsoft JhengHei"/>
                <a:ea typeface="Microsoft JhengHei"/>
                <a:cs typeface="Microsoft JhengHei"/>
              </a:rPr>
              <a:t>該領域首次具統計顯著的負向報告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646480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8C9298"/>
                </a:solidFill>
                <a:latin typeface="Calibri"/>
                <a:ea typeface="Microsoft JhengHei"/>
                <a:cs typeface="Calibri"/>
              </a:rPr>
              <a:t>Hermes-DQN ・ 國立中興大學 資訊管理學研究所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6480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C9298"/>
                </a:solidFill>
                <a:latin typeface="Calibri"/>
                <a:ea typeface="Microsoft JhengHei"/>
                <a:cs typeface="Calibri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512064"/>
            <a:ext cx="109728" cy="365760"/>
          </a:xfrm>
          <a:prstGeom prst="rect">
            <a:avLst/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57200"/>
            <a:ext cx="8778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00" b="1" i="0">
                <a:solidFill>
                  <a:srgbClr val="23272B"/>
                </a:solidFill>
                <a:latin typeface="Georgia"/>
                <a:ea typeface="Microsoft JhengHei"/>
                <a:cs typeface="Georgia"/>
              </a:rPr>
              <a:t>研究限制 (Constraints &amp; Limitations)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66959" y="512064"/>
            <a:ext cx="1645920" cy="329184"/>
          </a:xfrm>
          <a:prstGeom prst="roundRect">
            <a:avLst>
              <a:gd name="adj" fmla="val 50000"/>
            </a:avLst>
          </a:prstGeom>
          <a:solidFill>
            <a:srgbClr val="465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Limitations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170432"/>
            <a:ext cx="11055096" cy="0"/>
          </a:xfrm>
          <a:prstGeom prst="line">
            <a:avLst/>
          </a:prstGeom>
          <a:ln w="12700">
            <a:solidFill>
              <a:srgbClr val="DDE1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40080" y="1508760"/>
            <a:ext cx="35204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D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0800" rIns="50800" tIns="50800" bIns="50800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1" i="0">
                <a:solidFill>
                  <a:srgbClr val="23272B"/>
                </a:solidFill>
                <a:latin typeface="Calibri"/>
                <a:ea typeface="Microsoft JhengHei"/>
                <a:cs typeface="Calibri"/>
              </a:rPr>
              <a:t>小樣本規模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65059"/>
                </a:solidFill>
                <a:latin typeface="Calibri"/>
                <a:ea typeface="Microsoft JhengHei"/>
                <a:cs typeface="Calibri"/>
              </a:rPr>
              <a:t>n=5 僅對大效應 (d≥1) 有力；部分記憶效應方向明確卻無法定論。後續以 n=10/20 重做。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3520440" cy="91440"/>
          </a:xfrm>
          <a:prstGeom prst="roundRect">
            <a:avLst>
              <a:gd name="adj" fmla="val 50000"/>
            </a:avLst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297680" y="1508760"/>
            <a:ext cx="35204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D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0800" rIns="50800" tIns="50800" bIns="50800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1" i="0">
                <a:solidFill>
                  <a:srgbClr val="23272B"/>
                </a:solidFill>
                <a:latin typeface="Calibri"/>
                <a:ea typeface="Microsoft JhengHei"/>
                <a:cs typeface="Calibri"/>
              </a:rPr>
              <a:t>密集環境僅一個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65059"/>
                </a:solidFill>
                <a:latin typeface="Calibri"/>
                <a:ea typeface="Microsoft JhengHei"/>
                <a:cs typeface="Calibri"/>
              </a:rPr>
              <a:t>「密度」與「塑形空間」在四環境面板中部分混淆；負向發現目前僅由 LunarLander 支撐，需 LunarLanderContinuous 分離兩變數。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508760"/>
            <a:ext cx="3520440" cy="91440"/>
          </a:xfrm>
          <a:prstGeom prst="roundRect">
            <a:avLst>
              <a:gd name="adj" fmla="val 50000"/>
            </a:avLst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955279" y="1508760"/>
            <a:ext cx="35204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D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0800" rIns="50800" tIns="50800" bIns="50800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1" i="0">
                <a:solidFill>
                  <a:srgbClr val="23272B"/>
                </a:solidFill>
                <a:latin typeface="Calibri"/>
                <a:ea typeface="Microsoft JhengHei"/>
                <a:cs typeface="Calibri"/>
              </a:rPr>
              <a:t>B1 為暫時基準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65059"/>
                </a:solidFill>
                <a:latin typeface="Calibri"/>
                <a:ea typeface="Microsoft JhengHei"/>
                <a:cs typeface="Calibri"/>
              </a:rPr>
              <a:t>人工塑形由作者自撰，非第三方；不足以作為決定性人類基準。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1508760"/>
            <a:ext cx="3520440" cy="91440"/>
          </a:xfrm>
          <a:prstGeom prst="roundRect">
            <a:avLst>
              <a:gd name="adj" fmla="val 50000"/>
            </a:avLst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3657600"/>
            <a:ext cx="35204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D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0800" rIns="50800" tIns="50800" bIns="50800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1" i="0">
                <a:solidFill>
                  <a:srgbClr val="23272B"/>
                </a:solidFill>
                <a:latin typeface="Calibri"/>
                <a:ea typeface="Microsoft JhengHei"/>
                <a:cs typeface="Calibri"/>
              </a:rPr>
              <a:t>單一 LLM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65059"/>
                </a:solidFill>
                <a:latin typeface="Calibri"/>
                <a:ea typeface="Microsoft JhengHei"/>
                <a:cs typeface="Calibri"/>
              </a:rPr>
              <a:t>變異可能與該模型抽樣特性有關；Llama 3.3 / Qwen 3 / DeepSeek-V3 重做為自然延伸。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657600"/>
            <a:ext cx="3520440" cy="91440"/>
          </a:xfrm>
          <a:prstGeom prst="roundRect">
            <a:avLst>
              <a:gd name="adj" fmla="val 50000"/>
            </a:avLst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297680" y="3657600"/>
            <a:ext cx="35204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D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0800" rIns="50800" tIns="50800" bIns="50800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1" i="0">
                <a:solidFill>
                  <a:srgbClr val="23272B"/>
                </a:solidFill>
                <a:latin typeface="Calibri"/>
                <a:ea typeface="Microsoft JhengHei"/>
                <a:cs typeface="Calibri"/>
              </a:rPr>
              <a:t>固定 5 輪迭代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65059"/>
                </a:solidFill>
                <a:latin typeface="Calibri"/>
                <a:ea typeface="Microsoft JhengHei"/>
                <a:cs typeface="Calibri"/>
              </a:rPr>
              <a:t>閉環迴圈硬編碼為 5 輪；更長迭代能否逆轉負向效應未知。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3657600"/>
            <a:ext cx="3520440" cy="91440"/>
          </a:xfrm>
          <a:prstGeom prst="roundRect">
            <a:avLst>
              <a:gd name="adj" fmla="val 50000"/>
            </a:avLst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955279" y="3657600"/>
            <a:ext cx="35204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D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0800" rIns="50800" tIns="50800" bIns="50800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1" i="0">
                <a:solidFill>
                  <a:srgbClr val="23272B"/>
                </a:solidFill>
                <a:latin typeface="Calibri"/>
                <a:ea typeface="Microsoft JhengHei"/>
                <a:cs typeface="Calibri"/>
              </a:rPr>
              <a:t>僅部分 Rainbow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65059"/>
                </a:solidFill>
                <a:latin typeface="Calibri"/>
                <a:ea typeface="Microsoft JhengHei"/>
                <a:cs typeface="Calibri"/>
              </a:rPr>
              <a:t>只實作 Double + Dueling；PER / Multi-step / Noisy / 分佈式 Q 留待後續。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5279" y="3657600"/>
            <a:ext cx="3520440" cy="91440"/>
          </a:xfrm>
          <a:prstGeom prst="roundRect">
            <a:avLst>
              <a:gd name="adj" fmla="val 50000"/>
            </a:avLst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646480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8C9298"/>
                </a:solidFill>
                <a:latin typeface="Calibri"/>
                <a:ea typeface="Microsoft JhengHei"/>
                <a:cs typeface="Calibri"/>
              </a:rPr>
              <a:t>Hermes-DQN ・ 國立中興大學 資訊管理學研究所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46480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C9298"/>
                </a:solidFill>
                <a:latin typeface="Calibri"/>
                <a:ea typeface="Microsoft JhengHei"/>
                <a:cs typeface="Calibri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512064"/>
            <a:ext cx="109728" cy="365760"/>
          </a:xfrm>
          <a:prstGeom prst="rect">
            <a:avLst/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57200"/>
            <a:ext cx="8778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00" b="1" i="0">
                <a:solidFill>
                  <a:srgbClr val="23272B"/>
                </a:solidFill>
                <a:latin typeface="Georgia"/>
                <a:ea typeface="Microsoft JhengHei"/>
                <a:cs typeface="Georgia"/>
              </a:rPr>
              <a:t>未來研究藍圖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0" y="512064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465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Future Work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170432"/>
            <a:ext cx="11055096" cy="0"/>
          </a:xfrm>
          <a:prstGeom prst="line">
            <a:avLst/>
          </a:prstGeom>
          <a:ln w="12700">
            <a:solidFill>
              <a:srgbClr val="DDE1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850392" y="5285232"/>
            <a:ext cx="219456" cy="219456"/>
          </a:xfrm>
          <a:prstGeom prst="ellipse">
            <a:avLst/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960120" y="4526280"/>
            <a:ext cx="2697480" cy="868680"/>
          </a:xfrm>
          <a:prstGeom prst="line">
            <a:avLst/>
          </a:prstGeom>
          <a:ln w="25400">
            <a:solidFill>
              <a:srgbClr val="4650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777240" y="3886200"/>
            <a:ext cx="260604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0800" rIns="50800" tIns="50800" bIns="50800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 i="0">
                <a:solidFill>
                  <a:srgbClr val="D99A2B"/>
                </a:solidFill>
                <a:latin typeface="Calibri"/>
                <a:ea typeface="Microsoft JhengHei"/>
                <a:cs typeface="Calibri"/>
              </a:rPr>
              <a:t>Step 1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23272B"/>
                </a:solidFill>
                <a:latin typeface="Calibri"/>
                <a:ea typeface="Microsoft JhengHei"/>
                <a:cs typeface="Calibri"/>
              </a:rPr>
              <a:t>連續控制擴張</a:t>
            </a: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65059"/>
                </a:solidFill>
                <a:latin typeface="Calibri"/>
                <a:ea typeface="Microsoft JhengHei"/>
                <a:cs typeface="Calibri"/>
              </a:rPr>
              <a:t>進軍 MuJoCo 等高維連續動作基準。</a:t>
            </a:r>
          </a:p>
        </p:txBody>
      </p:sp>
      <p:sp>
        <p:nvSpPr>
          <p:cNvPr id="9" name="Oval 8"/>
          <p:cNvSpPr/>
          <p:nvPr/>
        </p:nvSpPr>
        <p:spPr>
          <a:xfrm>
            <a:off x="3547872" y="4416552"/>
            <a:ext cx="219456" cy="219456"/>
          </a:xfrm>
          <a:prstGeom prst="ellipse">
            <a:avLst/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 flipV="1">
            <a:off x="3657600" y="3657600"/>
            <a:ext cx="2697480" cy="868680"/>
          </a:xfrm>
          <a:prstGeom prst="line">
            <a:avLst/>
          </a:prstGeom>
          <a:ln w="25400">
            <a:solidFill>
              <a:srgbClr val="4650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474720" y="3017520"/>
            <a:ext cx="260604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0800" rIns="50800" tIns="50800" bIns="50800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 i="0">
                <a:solidFill>
                  <a:srgbClr val="D99A2B"/>
                </a:solidFill>
                <a:latin typeface="Calibri"/>
                <a:ea typeface="Microsoft JhengHei"/>
                <a:cs typeface="Calibri"/>
              </a:rPr>
              <a:t>Step 2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23272B"/>
                </a:solidFill>
                <a:latin typeface="Calibri"/>
                <a:ea typeface="Microsoft JhengHei"/>
                <a:cs typeface="Calibri"/>
              </a:rPr>
              <a:t>勢能約束生成</a:t>
            </a: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65059"/>
                </a:solidFill>
                <a:latin typeface="Calibri"/>
                <a:ea typeface="Microsoft JhengHei"/>
                <a:cs typeface="Calibri"/>
              </a:rPr>
              <a:t>將理論邊界注入 LLM Prompt，從數學上保證生成的塑形獎勵不破壞原始最優策略。</a:t>
            </a:r>
          </a:p>
        </p:txBody>
      </p:sp>
      <p:sp>
        <p:nvSpPr>
          <p:cNvPr id="12" name="Oval 11"/>
          <p:cNvSpPr/>
          <p:nvPr/>
        </p:nvSpPr>
        <p:spPr>
          <a:xfrm>
            <a:off x="6245352" y="3547872"/>
            <a:ext cx="219456" cy="219456"/>
          </a:xfrm>
          <a:prstGeom prst="ellipse">
            <a:avLst/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 flipV="1">
            <a:off x="6355080" y="2788920"/>
            <a:ext cx="2697480" cy="868680"/>
          </a:xfrm>
          <a:prstGeom prst="line">
            <a:avLst/>
          </a:prstGeom>
          <a:ln w="25400">
            <a:solidFill>
              <a:srgbClr val="4650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172200" y="2148839"/>
            <a:ext cx="260604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0800" rIns="50800" tIns="50800" bIns="50800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 i="0">
                <a:solidFill>
                  <a:srgbClr val="D99A2B"/>
                </a:solidFill>
                <a:latin typeface="Calibri"/>
                <a:ea typeface="Microsoft JhengHei"/>
                <a:cs typeface="Calibri"/>
              </a:rPr>
              <a:t>Step 3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23272B"/>
                </a:solidFill>
                <a:latin typeface="Calibri"/>
                <a:ea typeface="Microsoft JhengHei"/>
                <a:cs typeface="Calibri"/>
              </a:rPr>
              <a:t>自適應迭代機制</a:t>
            </a: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65059"/>
                </a:solidFill>
                <a:latin typeface="Calibri"/>
                <a:ea typeface="Microsoft JhengHei"/>
                <a:cs typeface="Calibri"/>
              </a:rPr>
              <a:t>捨棄固定輪數，改以 Fitness 曲線動態判定是否終止迭代迴圈。</a:t>
            </a:r>
          </a:p>
        </p:txBody>
      </p:sp>
      <p:sp>
        <p:nvSpPr>
          <p:cNvPr id="15" name="Oval 14"/>
          <p:cNvSpPr/>
          <p:nvPr/>
        </p:nvSpPr>
        <p:spPr>
          <a:xfrm>
            <a:off x="8942832" y="2679192"/>
            <a:ext cx="219456" cy="219456"/>
          </a:xfrm>
          <a:prstGeom prst="ellipse">
            <a:avLst/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869680" y="1280160"/>
            <a:ext cx="260604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0800" rIns="50800" tIns="50800" bIns="50800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 i="0">
                <a:solidFill>
                  <a:srgbClr val="D99A2B"/>
                </a:solidFill>
                <a:latin typeface="Calibri"/>
                <a:ea typeface="Microsoft JhengHei"/>
                <a:cs typeface="Calibri"/>
              </a:rPr>
              <a:t>Step 4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23272B"/>
                </a:solidFill>
                <a:latin typeface="Calibri"/>
                <a:ea typeface="Microsoft JhengHei"/>
                <a:cs typeface="Calibri"/>
              </a:rPr>
              <a:t>多模型基準整合</a:t>
            </a: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65059"/>
                </a:solidFill>
                <a:latin typeface="Calibri"/>
                <a:ea typeface="Microsoft JhengHei"/>
                <a:cs typeface="Calibri"/>
              </a:rPr>
              <a:t>引入多種開源模型橫向 Benchmark，隔離出模型特定的偏誤特徵。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8C9298"/>
                </a:solidFill>
                <a:latin typeface="Microsoft JhengHei"/>
                <a:ea typeface="Microsoft JhengHei"/>
                <a:cs typeface="Microsoft JhengHei"/>
              </a:rPr>
              <a:t>陳盛茂 ・ 林仙安 ・ 辛語柔 ・ 陳冠宇　｜　國立中興大學 資訊管理學研究所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46480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8C9298"/>
                </a:solidFill>
                <a:latin typeface="Calibri"/>
                <a:ea typeface="Microsoft JhengHei"/>
                <a:cs typeface="Calibri"/>
              </a:rPr>
              <a:t>Hermes-DQN ・ 國立中興大學 資訊管理學研究所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46480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C9298"/>
                </a:solidFill>
                <a:latin typeface="Calibri"/>
                <a:ea typeface="Microsoft JhengHei"/>
                <a:cs typeface="Calibri"/>
              </a:rPr>
              <a:t>34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